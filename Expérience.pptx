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0" r:id="rId5"/>
    <p:sldId id="266" r:id="rId6"/>
    <p:sldId id="257" r:id="rId7"/>
    <p:sldId id="261" r:id="rId8"/>
    <p:sldId id="265" r:id="rId9"/>
    <p:sldId id="262" r:id="rId10"/>
    <p:sldId id="267" r:id="rId11"/>
    <p:sldId id="271" r:id="rId12"/>
    <p:sldId id="270" r:id="rId13"/>
    <p:sldId id="269" r:id="rId14"/>
    <p:sldId id="272" r:id="rId15"/>
    <p:sldId id="264" r:id="rId16"/>
    <p:sldId id="268" r:id="rId17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6156B6"/>
    <a:srgbClr val="2930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79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5">
  <dgm:title val=""/>
  <dgm:desc val=""/>
  <dgm:catLst>
    <dgm:cat type="accent2" pri="11500"/>
  </dgm:catLst>
  <dgm:styleLbl name="node0">
    <dgm:fillClrLst meth="cycle">
      <a:schemeClr val="accent2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>
        <a:alpha val="90000"/>
      </a:schemeClr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>
        <a:alpha val="90000"/>
      </a:schemeClr>
      <a:schemeClr val="accent2">
        <a:alpha val="5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/>
    <dgm:txEffectClrLst/>
  </dgm:styleLbl>
  <dgm:styleLbl name="lnNode1">
    <dgm:fillClrLst>
      <a:schemeClr val="accent2">
        <a:shade val="90000"/>
      </a:schemeClr>
      <a:schemeClr val="accent2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shade val="80000"/>
        <a:alpha val="50000"/>
      </a:schemeClr>
      <a:schemeClr val="accent2">
        <a:alpha val="2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  <a:alpha val="90000"/>
      </a:schemeClr>
      <a:schemeClr val="accent2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f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bgSibTrans2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/>
    <dgm:txEffectClrLst/>
  </dgm:styleLbl>
  <dgm:styleLbl name="sibTrans1D1">
    <dgm:fillClrLst>
      <a:schemeClr val="accent2">
        <a:shade val="90000"/>
      </a:schemeClr>
      <a:schemeClr val="accent2">
        <a:tint val="50000"/>
      </a:schemeClr>
    </dgm:fillClrLst>
    <dgm:linClrLst>
      <a:schemeClr val="accent2">
        <a:shade val="90000"/>
      </a:schemeClr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2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2">
        <a:shade val="8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>
        <a:alpha val="90000"/>
      </a:schemeClr>
      <a:schemeClr val="accent2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alpha val="90000"/>
        <a:tint val="40000"/>
      </a:schemeClr>
      <a:schemeClr val="accent2">
        <a:alpha val="5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80661F-9B7D-4BBC-99B3-F7E53975A934}" type="doc">
      <dgm:prSet loTypeId="urn:microsoft.com/office/officeart/2005/8/layout/hList6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DFDE504-A91C-4244-B6D3-AF87A528E471}">
      <dgm:prSet phldrT="[Texte]"/>
      <dgm:spPr/>
      <dgm:t>
        <a:bodyPr/>
        <a:lstStyle/>
        <a:p>
          <a:r>
            <a:rPr lang="fr-FR" dirty="0" smtClean="0"/>
            <a:t>Introduction et Problématique</a:t>
          </a:r>
          <a:endParaRPr lang="fr-FR" dirty="0"/>
        </a:p>
      </dgm:t>
    </dgm:pt>
    <dgm:pt modelId="{49F66C92-5EE9-4B46-8C99-CAB61AE6A94D}" type="parTrans" cxnId="{37DB9A6E-7CD6-4E1E-AE04-EF33F6807F9D}">
      <dgm:prSet/>
      <dgm:spPr/>
      <dgm:t>
        <a:bodyPr/>
        <a:lstStyle/>
        <a:p>
          <a:endParaRPr lang="fr-FR"/>
        </a:p>
      </dgm:t>
    </dgm:pt>
    <dgm:pt modelId="{4D0593C9-077D-4B3E-80E5-4A321E97CDA7}" type="sibTrans" cxnId="{37DB9A6E-7CD6-4E1E-AE04-EF33F6807F9D}">
      <dgm:prSet/>
      <dgm:spPr/>
      <dgm:t>
        <a:bodyPr/>
        <a:lstStyle/>
        <a:p>
          <a:endParaRPr lang="fr-FR"/>
        </a:p>
      </dgm:t>
    </dgm:pt>
    <dgm:pt modelId="{57234A0F-6D15-4EDF-83B5-CA29EC130077}">
      <dgm:prSet phldrT="[Texte]"/>
      <dgm:spPr/>
      <dgm:t>
        <a:bodyPr/>
        <a:lstStyle/>
        <a:p>
          <a:r>
            <a:rPr lang="fr-FR" dirty="0" smtClean="0"/>
            <a:t>Méthodologie et Protocole</a:t>
          </a:r>
          <a:endParaRPr lang="fr-FR" dirty="0"/>
        </a:p>
      </dgm:t>
    </dgm:pt>
    <dgm:pt modelId="{B9092214-DF58-4FF7-8DCE-83FB3B8122B2}" type="parTrans" cxnId="{65160A5C-7FDA-4D84-A2AD-E2AF0BAEB73F}">
      <dgm:prSet/>
      <dgm:spPr/>
      <dgm:t>
        <a:bodyPr/>
        <a:lstStyle/>
        <a:p>
          <a:endParaRPr lang="fr-FR"/>
        </a:p>
      </dgm:t>
    </dgm:pt>
    <dgm:pt modelId="{74DBEC55-6F78-409D-847F-260C30D7A191}" type="sibTrans" cxnId="{65160A5C-7FDA-4D84-A2AD-E2AF0BAEB73F}">
      <dgm:prSet/>
      <dgm:spPr/>
      <dgm:t>
        <a:bodyPr/>
        <a:lstStyle/>
        <a:p>
          <a:endParaRPr lang="fr-FR"/>
        </a:p>
      </dgm:t>
    </dgm:pt>
    <dgm:pt modelId="{6030AC11-9EAD-4C29-9D3D-06ED09C3EB17}">
      <dgm:prSet phldrT="[Texte]"/>
      <dgm:spPr/>
      <dgm:t>
        <a:bodyPr/>
        <a:lstStyle/>
        <a:p>
          <a:r>
            <a:rPr lang="fr-FR" dirty="0" smtClean="0"/>
            <a:t>Analyse et Résultats (</a:t>
          </a:r>
          <a:r>
            <a:rPr lang="fr-FR" dirty="0" err="1" smtClean="0"/>
            <a:t>PowerBI</a:t>
          </a:r>
          <a:r>
            <a:rPr lang="fr-FR" dirty="0" smtClean="0"/>
            <a:t>)</a:t>
          </a:r>
          <a:endParaRPr lang="fr-FR" dirty="0"/>
        </a:p>
      </dgm:t>
    </dgm:pt>
    <dgm:pt modelId="{867C3E23-2C2B-4C5A-87AA-06146B064543}" type="parTrans" cxnId="{B2406B20-4BD1-46C8-94E1-21E1BA7F8646}">
      <dgm:prSet/>
      <dgm:spPr/>
      <dgm:t>
        <a:bodyPr/>
        <a:lstStyle/>
        <a:p>
          <a:endParaRPr lang="fr-FR"/>
        </a:p>
      </dgm:t>
    </dgm:pt>
    <dgm:pt modelId="{F8CFBB0F-5F27-4579-8356-0D1DD14AC98C}" type="sibTrans" cxnId="{B2406B20-4BD1-46C8-94E1-21E1BA7F8646}">
      <dgm:prSet/>
      <dgm:spPr/>
      <dgm:t>
        <a:bodyPr/>
        <a:lstStyle/>
        <a:p>
          <a:endParaRPr lang="fr-FR"/>
        </a:p>
      </dgm:t>
    </dgm:pt>
    <dgm:pt modelId="{D1ED02D9-E587-4B4B-939F-9845E7D87863}">
      <dgm:prSet phldrT="[Texte]"/>
      <dgm:spPr/>
      <dgm:t>
        <a:bodyPr/>
        <a:lstStyle/>
        <a:p>
          <a:r>
            <a:rPr lang="fr-FR" dirty="0" smtClean="0"/>
            <a:t>Limites et conclusion</a:t>
          </a:r>
          <a:endParaRPr lang="fr-FR" dirty="0"/>
        </a:p>
      </dgm:t>
    </dgm:pt>
    <dgm:pt modelId="{D118172A-D2D0-4E84-B3A3-1468F2CF906F}" type="parTrans" cxnId="{4DD3CCF4-8CBC-4A95-B99F-CDDAC870A78B}">
      <dgm:prSet/>
      <dgm:spPr/>
      <dgm:t>
        <a:bodyPr/>
        <a:lstStyle/>
        <a:p>
          <a:endParaRPr lang="fr-FR"/>
        </a:p>
      </dgm:t>
    </dgm:pt>
    <dgm:pt modelId="{DEE0F4D5-9648-4B3C-B53B-C226A1EC5918}" type="sibTrans" cxnId="{4DD3CCF4-8CBC-4A95-B99F-CDDAC870A78B}">
      <dgm:prSet/>
      <dgm:spPr/>
      <dgm:t>
        <a:bodyPr/>
        <a:lstStyle/>
        <a:p>
          <a:endParaRPr lang="fr-FR"/>
        </a:p>
      </dgm:t>
    </dgm:pt>
    <dgm:pt modelId="{F8267400-7902-4255-A572-108E18873401}" type="pres">
      <dgm:prSet presAssocID="{A380661F-9B7D-4BBC-99B3-F7E53975A934}" presName="Name0" presStyleCnt="0">
        <dgm:presLayoutVars>
          <dgm:dir/>
          <dgm:resizeHandles val="exact"/>
        </dgm:presLayoutVars>
      </dgm:prSet>
      <dgm:spPr/>
    </dgm:pt>
    <dgm:pt modelId="{30D31498-3192-46A0-870B-1B7364AE4189}" type="pres">
      <dgm:prSet presAssocID="{CDFDE504-A91C-4244-B6D3-AF87A528E471}" presName="node" presStyleLbl="node1" presStyleIdx="0" presStyleCnt="4" custLinFactNeighborX="-12821" custLinFactNeighborY="5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B548AE22-E58F-4469-A95A-BB72D8C208B2}" type="pres">
      <dgm:prSet presAssocID="{4D0593C9-077D-4B3E-80E5-4A321E97CDA7}" presName="sibTrans" presStyleCnt="0"/>
      <dgm:spPr/>
    </dgm:pt>
    <dgm:pt modelId="{F479FD7C-9662-47CF-8015-4B94C471E55C}" type="pres">
      <dgm:prSet presAssocID="{57234A0F-6D15-4EDF-83B5-CA29EC130077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17466F38-60C8-410A-94FC-370A59A4F415}" type="pres">
      <dgm:prSet presAssocID="{74DBEC55-6F78-409D-847F-260C30D7A191}" presName="sibTrans" presStyleCnt="0"/>
      <dgm:spPr/>
    </dgm:pt>
    <dgm:pt modelId="{DA769A7E-DB06-4F73-87AC-1D1D3F1B6520}" type="pres">
      <dgm:prSet presAssocID="{6030AC11-9EAD-4C29-9D3D-06ED09C3EB17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51182C-FE1A-4689-9AC9-F7E7BF168C74}" type="pres">
      <dgm:prSet presAssocID="{F8CFBB0F-5F27-4579-8356-0D1DD14AC98C}" presName="sibTrans" presStyleCnt="0"/>
      <dgm:spPr/>
    </dgm:pt>
    <dgm:pt modelId="{A717009C-1037-4BE4-8828-2FB5AC57D973}" type="pres">
      <dgm:prSet presAssocID="{D1ED02D9-E587-4B4B-939F-9845E7D87863}" presName="node" presStyleLbl="node1" presStyleIdx="3" presStyleCnt="4">
        <dgm:presLayoutVars>
          <dgm:bulletEnabled val="1"/>
        </dgm:presLayoutVars>
      </dgm:prSet>
      <dgm:spPr/>
    </dgm:pt>
  </dgm:ptLst>
  <dgm:cxnLst>
    <dgm:cxn modelId="{4DEA770C-049D-4EB9-BE9D-03250BEF82C1}" type="presOf" srcId="{D1ED02D9-E587-4B4B-939F-9845E7D87863}" destId="{A717009C-1037-4BE4-8828-2FB5AC57D973}" srcOrd="0" destOrd="0" presId="urn:microsoft.com/office/officeart/2005/8/layout/hList6"/>
    <dgm:cxn modelId="{37DB9A6E-7CD6-4E1E-AE04-EF33F6807F9D}" srcId="{A380661F-9B7D-4BBC-99B3-F7E53975A934}" destId="{CDFDE504-A91C-4244-B6D3-AF87A528E471}" srcOrd="0" destOrd="0" parTransId="{49F66C92-5EE9-4B46-8C99-CAB61AE6A94D}" sibTransId="{4D0593C9-077D-4B3E-80E5-4A321E97CDA7}"/>
    <dgm:cxn modelId="{F2B7C654-832D-4A48-9068-485DC43ADB47}" type="presOf" srcId="{A380661F-9B7D-4BBC-99B3-F7E53975A934}" destId="{F8267400-7902-4255-A572-108E18873401}" srcOrd="0" destOrd="0" presId="urn:microsoft.com/office/officeart/2005/8/layout/hList6"/>
    <dgm:cxn modelId="{4DD3CCF4-8CBC-4A95-B99F-CDDAC870A78B}" srcId="{A380661F-9B7D-4BBC-99B3-F7E53975A934}" destId="{D1ED02D9-E587-4B4B-939F-9845E7D87863}" srcOrd="3" destOrd="0" parTransId="{D118172A-D2D0-4E84-B3A3-1468F2CF906F}" sibTransId="{DEE0F4D5-9648-4B3C-B53B-C226A1EC5918}"/>
    <dgm:cxn modelId="{969FF518-1174-4A69-858F-23C291D4D0B6}" type="presOf" srcId="{CDFDE504-A91C-4244-B6D3-AF87A528E471}" destId="{30D31498-3192-46A0-870B-1B7364AE4189}" srcOrd="0" destOrd="0" presId="urn:microsoft.com/office/officeart/2005/8/layout/hList6"/>
    <dgm:cxn modelId="{B2406B20-4BD1-46C8-94E1-21E1BA7F8646}" srcId="{A380661F-9B7D-4BBC-99B3-F7E53975A934}" destId="{6030AC11-9EAD-4C29-9D3D-06ED09C3EB17}" srcOrd="2" destOrd="0" parTransId="{867C3E23-2C2B-4C5A-87AA-06146B064543}" sibTransId="{F8CFBB0F-5F27-4579-8356-0D1DD14AC98C}"/>
    <dgm:cxn modelId="{48CCD603-BC7B-44D0-8876-F951FEC7FCDA}" type="presOf" srcId="{57234A0F-6D15-4EDF-83B5-CA29EC130077}" destId="{F479FD7C-9662-47CF-8015-4B94C471E55C}" srcOrd="0" destOrd="0" presId="urn:microsoft.com/office/officeart/2005/8/layout/hList6"/>
    <dgm:cxn modelId="{F2A7AD7E-4C70-433E-B42B-DBCD83ACB171}" type="presOf" srcId="{6030AC11-9EAD-4C29-9D3D-06ED09C3EB17}" destId="{DA769A7E-DB06-4F73-87AC-1D1D3F1B6520}" srcOrd="0" destOrd="0" presId="urn:microsoft.com/office/officeart/2005/8/layout/hList6"/>
    <dgm:cxn modelId="{65160A5C-7FDA-4D84-A2AD-E2AF0BAEB73F}" srcId="{A380661F-9B7D-4BBC-99B3-F7E53975A934}" destId="{57234A0F-6D15-4EDF-83B5-CA29EC130077}" srcOrd="1" destOrd="0" parTransId="{B9092214-DF58-4FF7-8DCE-83FB3B8122B2}" sibTransId="{74DBEC55-6F78-409D-847F-260C30D7A191}"/>
    <dgm:cxn modelId="{15286CBD-7F66-4D95-B88C-200CCC7B6407}" type="presParOf" srcId="{F8267400-7902-4255-A572-108E18873401}" destId="{30D31498-3192-46A0-870B-1B7364AE4189}" srcOrd="0" destOrd="0" presId="urn:microsoft.com/office/officeart/2005/8/layout/hList6"/>
    <dgm:cxn modelId="{B547DDCE-69D8-4584-B98E-9AE5D57C25E9}" type="presParOf" srcId="{F8267400-7902-4255-A572-108E18873401}" destId="{B548AE22-E58F-4469-A95A-BB72D8C208B2}" srcOrd="1" destOrd="0" presId="urn:microsoft.com/office/officeart/2005/8/layout/hList6"/>
    <dgm:cxn modelId="{F1BF5C70-7057-464E-B8B9-DBF76BE2A189}" type="presParOf" srcId="{F8267400-7902-4255-A572-108E18873401}" destId="{F479FD7C-9662-47CF-8015-4B94C471E55C}" srcOrd="2" destOrd="0" presId="urn:microsoft.com/office/officeart/2005/8/layout/hList6"/>
    <dgm:cxn modelId="{672CA18C-A2B4-4770-950F-03799B8F3ABA}" type="presParOf" srcId="{F8267400-7902-4255-A572-108E18873401}" destId="{17466F38-60C8-410A-94FC-370A59A4F415}" srcOrd="3" destOrd="0" presId="urn:microsoft.com/office/officeart/2005/8/layout/hList6"/>
    <dgm:cxn modelId="{7108C126-C7DC-49DF-92C0-079E7B0CB4F1}" type="presParOf" srcId="{F8267400-7902-4255-A572-108E18873401}" destId="{DA769A7E-DB06-4F73-87AC-1D1D3F1B6520}" srcOrd="4" destOrd="0" presId="urn:microsoft.com/office/officeart/2005/8/layout/hList6"/>
    <dgm:cxn modelId="{3067A8E3-007F-4398-AC9F-9A03E353A22D}" type="presParOf" srcId="{F8267400-7902-4255-A572-108E18873401}" destId="{4D51182C-FE1A-4689-9AC9-F7E7BF168C74}" srcOrd="5" destOrd="0" presId="urn:microsoft.com/office/officeart/2005/8/layout/hList6"/>
    <dgm:cxn modelId="{A32479B3-F211-4E12-B215-DA5FDB0BC6A6}" type="presParOf" srcId="{F8267400-7902-4255-A572-108E18873401}" destId="{A717009C-1037-4BE4-8828-2FB5AC57D973}" srcOrd="6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A55AB5D-2908-41E1-BA7F-A7C8B7BC783E}" type="doc">
      <dgm:prSet loTypeId="urn:microsoft.com/office/officeart/2008/layout/VerticalCurvedList" loCatId="list" qsTypeId="urn:microsoft.com/office/officeart/2005/8/quickstyle/simple1" qsCatId="simple" csTypeId="urn:microsoft.com/office/officeart/2005/8/colors/accent2_5" csCatId="accent2" phldr="1"/>
      <dgm:spPr/>
      <dgm:t>
        <a:bodyPr/>
        <a:lstStyle/>
        <a:p>
          <a:endParaRPr lang="fr-FR"/>
        </a:p>
      </dgm:t>
    </dgm:pt>
    <dgm:pt modelId="{5D14EC21-D214-4D29-A929-77476FDA083C}">
      <dgm:prSet phldrT="[Texte]" custT="1"/>
      <dgm:spPr/>
      <dgm:t>
        <a:bodyPr/>
        <a:lstStyle/>
        <a:p>
          <a:pPr algn="ctr"/>
          <a:r>
            <a:rPr lang="fr-FR" sz="2800" b="1" dirty="0" smtClean="0"/>
            <a:t>H1 &amp; H2 (Conformisme) : Hausse des erreurs face aux experts</a:t>
          </a:r>
          <a:endParaRPr lang="fr-FR" sz="2800" dirty="0"/>
        </a:p>
      </dgm:t>
    </dgm:pt>
    <dgm:pt modelId="{FFD89649-211E-4D4F-A811-FD11BFEC8735}" type="parTrans" cxnId="{691916AA-D8D5-4196-B9F8-7773AB161B9F}">
      <dgm:prSet/>
      <dgm:spPr/>
      <dgm:t>
        <a:bodyPr/>
        <a:lstStyle/>
        <a:p>
          <a:endParaRPr lang="fr-FR"/>
        </a:p>
      </dgm:t>
    </dgm:pt>
    <dgm:pt modelId="{B245CEE2-966E-4C94-98FB-4464A7CA5427}" type="sibTrans" cxnId="{691916AA-D8D5-4196-B9F8-7773AB161B9F}">
      <dgm:prSet/>
      <dgm:spPr/>
      <dgm:t>
        <a:bodyPr/>
        <a:lstStyle/>
        <a:p>
          <a:endParaRPr lang="fr-FR"/>
        </a:p>
      </dgm:t>
    </dgm:pt>
    <dgm:pt modelId="{088B2346-46C4-4921-A5E5-328761BC5970}">
      <dgm:prSet phldrT="[Texte]" custT="1"/>
      <dgm:spPr/>
      <dgm:t>
        <a:bodyPr/>
        <a:lstStyle/>
        <a:p>
          <a:pPr algn="ctr"/>
          <a:r>
            <a:rPr lang="fr-FR" sz="2800" b="1" dirty="0" smtClean="0"/>
            <a:t>H3 (Métacognition) : Chute de la confiance en soi</a:t>
          </a:r>
          <a:endParaRPr lang="fr-FR" sz="2800" dirty="0"/>
        </a:p>
      </dgm:t>
    </dgm:pt>
    <dgm:pt modelId="{1866CDE5-AA1C-4B4F-A5C1-2234D7F1160F}" type="parTrans" cxnId="{E8BD26BA-77AE-4197-8070-C2DB916714F2}">
      <dgm:prSet/>
      <dgm:spPr/>
      <dgm:t>
        <a:bodyPr/>
        <a:lstStyle/>
        <a:p>
          <a:endParaRPr lang="fr-FR"/>
        </a:p>
      </dgm:t>
    </dgm:pt>
    <dgm:pt modelId="{A0A87149-D482-43CC-AEF5-DB9CAB6B89D2}" type="sibTrans" cxnId="{E8BD26BA-77AE-4197-8070-C2DB916714F2}">
      <dgm:prSet/>
      <dgm:spPr/>
      <dgm:t>
        <a:bodyPr/>
        <a:lstStyle/>
        <a:p>
          <a:endParaRPr lang="fr-FR"/>
        </a:p>
      </dgm:t>
    </dgm:pt>
    <dgm:pt modelId="{EA19C388-566A-4118-882B-DEFE3FEBCE95}">
      <dgm:prSet phldrT="[Texte]" custT="1"/>
      <dgm:spPr/>
      <dgm:t>
        <a:bodyPr/>
        <a:lstStyle/>
        <a:p>
          <a:pPr algn="ctr"/>
          <a:r>
            <a:rPr lang="fr-FR" sz="2800" b="1" dirty="0" smtClean="0"/>
            <a:t>H4 (Conflit Moteur Implicite - Mouse </a:t>
          </a:r>
          <a:r>
            <a:rPr lang="fr-FR" sz="2800" b="1" dirty="0" err="1" smtClean="0"/>
            <a:t>Tracking</a:t>
          </a:r>
          <a:r>
            <a:rPr lang="fr-FR" sz="2800" b="1" dirty="0" smtClean="0"/>
            <a:t>) </a:t>
          </a:r>
          <a:r>
            <a:rPr lang="fr-FR" sz="2800" b="1" dirty="0" smtClean="0"/>
            <a:t>: Hausse de l’hésitation physique (souris) </a:t>
          </a:r>
          <a:endParaRPr lang="fr-FR" sz="2800" dirty="0"/>
        </a:p>
      </dgm:t>
    </dgm:pt>
    <dgm:pt modelId="{DE939F26-E361-4B95-BFFA-C45EA947FC91}" type="parTrans" cxnId="{D28369A2-E3D2-4F94-9055-B47AB839AF3A}">
      <dgm:prSet/>
      <dgm:spPr/>
      <dgm:t>
        <a:bodyPr/>
        <a:lstStyle/>
        <a:p>
          <a:endParaRPr lang="fr-FR"/>
        </a:p>
      </dgm:t>
    </dgm:pt>
    <dgm:pt modelId="{99FE2FC5-7E0C-4C32-B491-ED137AD5C152}" type="sibTrans" cxnId="{D28369A2-E3D2-4F94-9055-B47AB839AF3A}">
      <dgm:prSet/>
      <dgm:spPr/>
      <dgm:t>
        <a:bodyPr/>
        <a:lstStyle/>
        <a:p>
          <a:endParaRPr lang="fr-FR"/>
        </a:p>
      </dgm:t>
    </dgm:pt>
    <dgm:pt modelId="{E6F75879-71A4-4FA1-B415-3967FDED0D23}" type="pres">
      <dgm:prSet presAssocID="{2A55AB5D-2908-41E1-BA7F-A7C8B7BC783E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fr-FR"/>
        </a:p>
      </dgm:t>
    </dgm:pt>
    <dgm:pt modelId="{510AEE7A-93FD-483B-8195-9933BF2BC451}" type="pres">
      <dgm:prSet presAssocID="{2A55AB5D-2908-41E1-BA7F-A7C8B7BC783E}" presName="Name1" presStyleCnt="0"/>
      <dgm:spPr/>
    </dgm:pt>
    <dgm:pt modelId="{865F8110-8E40-416F-99DF-6D3E0486B04D}" type="pres">
      <dgm:prSet presAssocID="{2A55AB5D-2908-41E1-BA7F-A7C8B7BC783E}" presName="cycle" presStyleCnt="0"/>
      <dgm:spPr/>
    </dgm:pt>
    <dgm:pt modelId="{7A66BA2C-EF5E-4393-90C4-DB776A37D504}" type="pres">
      <dgm:prSet presAssocID="{2A55AB5D-2908-41E1-BA7F-A7C8B7BC783E}" presName="srcNode" presStyleLbl="node1" presStyleIdx="0" presStyleCnt="3"/>
      <dgm:spPr/>
    </dgm:pt>
    <dgm:pt modelId="{8DB028ED-D27B-4744-B459-26638433840F}" type="pres">
      <dgm:prSet presAssocID="{2A55AB5D-2908-41E1-BA7F-A7C8B7BC783E}" presName="conn" presStyleLbl="parChTrans1D2" presStyleIdx="0" presStyleCnt="1"/>
      <dgm:spPr/>
      <dgm:t>
        <a:bodyPr/>
        <a:lstStyle/>
        <a:p>
          <a:endParaRPr lang="fr-FR"/>
        </a:p>
      </dgm:t>
    </dgm:pt>
    <dgm:pt modelId="{425D28C4-20E1-49F8-BC88-6F1CBA5D5FBD}" type="pres">
      <dgm:prSet presAssocID="{2A55AB5D-2908-41E1-BA7F-A7C8B7BC783E}" presName="extraNode" presStyleLbl="node1" presStyleIdx="0" presStyleCnt="3"/>
      <dgm:spPr/>
    </dgm:pt>
    <dgm:pt modelId="{C64C33ED-89BE-46E8-B2FE-50A6BFB1941B}" type="pres">
      <dgm:prSet presAssocID="{2A55AB5D-2908-41E1-BA7F-A7C8B7BC783E}" presName="dstNode" presStyleLbl="node1" presStyleIdx="0" presStyleCnt="3"/>
      <dgm:spPr/>
    </dgm:pt>
    <dgm:pt modelId="{59C70507-D004-43CC-9B13-1943C5229C35}" type="pres">
      <dgm:prSet presAssocID="{5D14EC21-D214-4D29-A929-77476FDA083C}" presName="text_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DC11120B-8903-4A99-9860-A126E138E378}" type="pres">
      <dgm:prSet presAssocID="{5D14EC21-D214-4D29-A929-77476FDA083C}" presName="accent_1" presStyleCnt="0"/>
      <dgm:spPr/>
    </dgm:pt>
    <dgm:pt modelId="{9A84BB93-ACD9-4C53-852C-3EAD1D0DD5A4}" type="pres">
      <dgm:prSet presAssocID="{5D14EC21-D214-4D29-A929-77476FDA083C}" presName="accentRepeatNode" presStyleLbl="solidFgAcc1" presStyleIdx="0" presStyleCnt="3" custScaleX="124446" custScaleY="128689"/>
      <dgm:spPr>
        <a:blipFill rotWithShape="0">
          <a:blip xmlns:r="http://schemas.openxmlformats.org/officeDocument/2006/relationships" r:embed="rId1"/>
          <a:stretch>
            <a:fillRect/>
          </a:stretch>
        </a:blipFill>
      </dgm:spPr>
    </dgm:pt>
    <dgm:pt modelId="{E0C978F8-CA0D-4EED-8325-FA7980850C5F}" type="pres">
      <dgm:prSet presAssocID="{088B2346-46C4-4921-A5E5-328761BC5970}" presName="text_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DB515941-B1D3-49E1-A140-A2296A0F0CBA}" type="pres">
      <dgm:prSet presAssocID="{088B2346-46C4-4921-A5E5-328761BC5970}" presName="accent_2" presStyleCnt="0"/>
      <dgm:spPr/>
    </dgm:pt>
    <dgm:pt modelId="{6311D314-674B-4DF7-B430-DC8EDAEB5828}" type="pres">
      <dgm:prSet presAssocID="{088B2346-46C4-4921-A5E5-328761BC5970}" presName="accentRepeatNode" presStyleLbl="solidFgAcc1" presStyleIdx="1" presStyleCnt="3" custScaleX="105983" custScaleY="105284"/>
      <dgm:spPr>
        <a:blipFill rotWithShape="0">
          <a:blip xmlns:r="http://schemas.openxmlformats.org/officeDocument/2006/relationships" r:embed="rId2"/>
          <a:stretch>
            <a:fillRect/>
          </a:stretch>
        </a:blipFill>
      </dgm:spPr>
    </dgm:pt>
    <dgm:pt modelId="{7E66A1CA-03D7-45C1-83F6-4E4EEDA23694}" type="pres">
      <dgm:prSet presAssocID="{EA19C388-566A-4118-882B-DEFE3FEBCE95}" presName="text_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C56D977-E8D8-430D-8773-3833F77250B5}" type="pres">
      <dgm:prSet presAssocID="{EA19C388-566A-4118-882B-DEFE3FEBCE95}" presName="accent_3" presStyleCnt="0"/>
      <dgm:spPr/>
    </dgm:pt>
    <dgm:pt modelId="{866BAC99-EA52-4132-8170-DC87EF847DEC}" type="pres">
      <dgm:prSet presAssocID="{EA19C388-566A-4118-882B-DEFE3FEBCE95}" presName="accentRepeatNode" presStyleLbl="solidFgAcc1" presStyleIdx="2" presStyleCnt="3"/>
      <dgm:spPr>
        <a:blipFill rotWithShape="0"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endParaRPr lang="fr-FR"/>
        </a:p>
      </dgm:t>
    </dgm:pt>
  </dgm:ptLst>
  <dgm:cxnLst>
    <dgm:cxn modelId="{FF957B8E-C41C-4450-B0F8-BB430B16DAB9}" type="presOf" srcId="{B245CEE2-966E-4C94-98FB-4464A7CA5427}" destId="{8DB028ED-D27B-4744-B459-26638433840F}" srcOrd="0" destOrd="0" presId="urn:microsoft.com/office/officeart/2008/layout/VerticalCurvedList"/>
    <dgm:cxn modelId="{D28369A2-E3D2-4F94-9055-B47AB839AF3A}" srcId="{2A55AB5D-2908-41E1-BA7F-A7C8B7BC783E}" destId="{EA19C388-566A-4118-882B-DEFE3FEBCE95}" srcOrd="2" destOrd="0" parTransId="{DE939F26-E361-4B95-BFFA-C45EA947FC91}" sibTransId="{99FE2FC5-7E0C-4C32-B491-ED137AD5C152}"/>
    <dgm:cxn modelId="{6940CCDD-CB5E-48C8-BA9C-DF07BDD891C2}" type="presOf" srcId="{5D14EC21-D214-4D29-A929-77476FDA083C}" destId="{59C70507-D004-43CC-9B13-1943C5229C35}" srcOrd="0" destOrd="0" presId="urn:microsoft.com/office/officeart/2008/layout/VerticalCurvedList"/>
    <dgm:cxn modelId="{3DDCC991-2AAA-4F1E-91BD-9272533BE347}" type="presOf" srcId="{088B2346-46C4-4921-A5E5-328761BC5970}" destId="{E0C978F8-CA0D-4EED-8325-FA7980850C5F}" srcOrd="0" destOrd="0" presId="urn:microsoft.com/office/officeart/2008/layout/VerticalCurvedList"/>
    <dgm:cxn modelId="{4D539837-704F-4D0F-80E8-02832EED4D91}" type="presOf" srcId="{2A55AB5D-2908-41E1-BA7F-A7C8B7BC783E}" destId="{E6F75879-71A4-4FA1-B415-3967FDED0D23}" srcOrd="0" destOrd="0" presId="urn:microsoft.com/office/officeart/2008/layout/VerticalCurvedList"/>
    <dgm:cxn modelId="{691916AA-D8D5-4196-B9F8-7773AB161B9F}" srcId="{2A55AB5D-2908-41E1-BA7F-A7C8B7BC783E}" destId="{5D14EC21-D214-4D29-A929-77476FDA083C}" srcOrd="0" destOrd="0" parTransId="{FFD89649-211E-4D4F-A811-FD11BFEC8735}" sibTransId="{B245CEE2-966E-4C94-98FB-4464A7CA5427}"/>
    <dgm:cxn modelId="{93A989A5-E243-4274-9A13-2D11EDEF04D1}" type="presOf" srcId="{EA19C388-566A-4118-882B-DEFE3FEBCE95}" destId="{7E66A1CA-03D7-45C1-83F6-4E4EEDA23694}" srcOrd="0" destOrd="0" presId="urn:microsoft.com/office/officeart/2008/layout/VerticalCurvedList"/>
    <dgm:cxn modelId="{E8BD26BA-77AE-4197-8070-C2DB916714F2}" srcId="{2A55AB5D-2908-41E1-BA7F-A7C8B7BC783E}" destId="{088B2346-46C4-4921-A5E5-328761BC5970}" srcOrd="1" destOrd="0" parTransId="{1866CDE5-AA1C-4B4F-A5C1-2234D7F1160F}" sibTransId="{A0A87149-D482-43CC-AEF5-DB9CAB6B89D2}"/>
    <dgm:cxn modelId="{CB6AA681-0288-44A4-A880-75DC9B74D81C}" type="presParOf" srcId="{E6F75879-71A4-4FA1-B415-3967FDED0D23}" destId="{510AEE7A-93FD-483B-8195-9933BF2BC451}" srcOrd="0" destOrd="0" presId="urn:microsoft.com/office/officeart/2008/layout/VerticalCurvedList"/>
    <dgm:cxn modelId="{ABE2CE7C-5BD9-45B8-86BB-BC9D609E4C00}" type="presParOf" srcId="{510AEE7A-93FD-483B-8195-9933BF2BC451}" destId="{865F8110-8E40-416F-99DF-6D3E0486B04D}" srcOrd="0" destOrd="0" presId="urn:microsoft.com/office/officeart/2008/layout/VerticalCurvedList"/>
    <dgm:cxn modelId="{8CE16ED6-5199-4F7C-982E-808044AB9A98}" type="presParOf" srcId="{865F8110-8E40-416F-99DF-6D3E0486B04D}" destId="{7A66BA2C-EF5E-4393-90C4-DB776A37D504}" srcOrd="0" destOrd="0" presId="urn:microsoft.com/office/officeart/2008/layout/VerticalCurvedList"/>
    <dgm:cxn modelId="{1FCD15B0-3FB4-469A-8569-1B28D9259E36}" type="presParOf" srcId="{865F8110-8E40-416F-99DF-6D3E0486B04D}" destId="{8DB028ED-D27B-4744-B459-26638433840F}" srcOrd="1" destOrd="0" presId="urn:microsoft.com/office/officeart/2008/layout/VerticalCurvedList"/>
    <dgm:cxn modelId="{A774B01A-C996-46A8-9AA9-49D1D107868C}" type="presParOf" srcId="{865F8110-8E40-416F-99DF-6D3E0486B04D}" destId="{425D28C4-20E1-49F8-BC88-6F1CBA5D5FBD}" srcOrd="2" destOrd="0" presId="urn:microsoft.com/office/officeart/2008/layout/VerticalCurvedList"/>
    <dgm:cxn modelId="{C617C87B-5A51-406E-A625-F53D3A3B881B}" type="presParOf" srcId="{865F8110-8E40-416F-99DF-6D3E0486B04D}" destId="{C64C33ED-89BE-46E8-B2FE-50A6BFB1941B}" srcOrd="3" destOrd="0" presId="urn:microsoft.com/office/officeart/2008/layout/VerticalCurvedList"/>
    <dgm:cxn modelId="{8816F864-FD04-4DAC-A0DB-72D8D9DE93F7}" type="presParOf" srcId="{510AEE7A-93FD-483B-8195-9933BF2BC451}" destId="{59C70507-D004-43CC-9B13-1943C5229C35}" srcOrd="1" destOrd="0" presId="urn:microsoft.com/office/officeart/2008/layout/VerticalCurvedList"/>
    <dgm:cxn modelId="{843A1BA5-5BDE-4B7A-B356-530A6C752562}" type="presParOf" srcId="{510AEE7A-93FD-483B-8195-9933BF2BC451}" destId="{DC11120B-8903-4A99-9860-A126E138E378}" srcOrd="2" destOrd="0" presId="urn:microsoft.com/office/officeart/2008/layout/VerticalCurvedList"/>
    <dgm:cxn modelId="{A9DED9C9-94F5-47B6-AC23-463E7BFF1A8E}" type="presParOf" srcId="{DC11120B-8903-4A99-9860-A126E138E378}" destId="{9A84BB93-ACD9-4C53-852C-3EAD1D0DD5A4}" srcOrd="0" destOrd="0" presId="urn:microsoft.com/office/officeart/2008/layout/VerticalCurvedList"/>
    <dgm:cxn modelId="{00EF59A4-9AD5-449B-80E4-61BE8CF14007}" type="presParOf" srcId="{510AEE7A-93FD-483B-8195-9933BF2BC451}" destId="{E0C978F8-CA0D-4EED-8325-FA7980850C5F}" srcOrd="3" destOrd="0" presId="urn:microsoft.com/office/officeart/2008/layout/VerticalCurvedList"/>
    <dgm:cxn modelId="{D4A1C82C-140C-4049-AB0D-C93C6553D1AB}" type="presParOf" srcId="{510AEE7A-93FD-483B-8195-9933BF2BC451}" destId="{DB515941-B1D3-49E1-A140-A2296A0F0CBA}" srcOrd="4" destOrd="0" presId="urn:microsoft.com/office/officeart/2008/layout/VerticalCurvedList"/>
    <dgm:cxn modelId="{3D99105D-8FD8-40F9-A5E9-6B323B4E49A7}" type="presParOf" srcId="{DB515941-B1D3-49E1-A140-A2296A0F0CBA}" destId="{6311D314-674B-4DF7-B430-DC8EDAEB5828}" srcOrd="0" destOrd="0" presId="urn:microsoft.com/office/officeart/2008/layout/VerticalCurvedList"/>
    <dgm:cxn modelId="{9E0EEE10-E3A7-4076-84DF-BE0A734D731F}" type="presParOf" srcId="{510AEE7A-93FD-483B-8195-9933BF2BC451}" destId="{7E66A1CA-03D7-45C1-83F6-4E4EEDA23694}" srcOrd="5" destOrd="0" presId="urn:microsoft.com/office/officeart/2008/layout/VerticalCurvedList"/>
    <dgm:cxn modelId="{F2BA1907-E2D4-4F88-A800-8A3B393EC1C9}" type="presParOf" srcId="{510AEE7A-93FD-483B-8195-9933BF2BC451}" destId="{9C56D977-E8D8-430D-8773-3833F77250B5}" srcOrd="6" destOrd="0" presId="urn:microsoft.com/office/officeart/2008/layout/VerticalCurvedList"/>
    <dgm:cxn modelId="{1FCB5660-4A81-4E31-ADDC-70B505408AC9}" type="presParOf" srcId="{9C56D977-E8D8-430D-8773-3833F77250B5}" destId="{866BAC99-EA52-4132-8170-DC87EF847DE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31498-3192-46A0-870B-1B7364AE4189}">
      <dsp:nvSpPr>
        <dsp:cNvPr id="0" name=""/>
        <dsp:cNvSpPr/>
      </dsp:nvSpPr>
      <dsp:spPr>
        <a:xfrm rot="16200000">
          <a:off x="-1164772" y="1164772"/>
          <a:ext cx="4662613" cy="2333069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reflection blurRad="12700" stA="26000" endPos="32000" dist="12700" dir="5400000" sy="-100000" rotWithShape="0"/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8750" tIns="0" rIns="156766" bIns="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500" kern="1200" dirty="0" smtClean="0"/>
            <a:t>Introduction et Problématique</a:t>
          </a:r>
          <a:endParaRPr lang="fr-FR" sz="2500" kern="1200" dirty="0"/>
        </a:p>
      </dsp:txBody>
      <dsp:txXfrm rot="5400000">
        <a:off x="0" y="932523"/>
        <a:ext cx="2333069" cy="2797567"/>
      </dsp:txXfrm>
    </dsp:sp>
    <dsp:sp modelId="{F479FD7C-9662-47CF-8015-4B94C471E55C}">
      <dsp:nvSpPr>
        <dsp:cNvPr id="0" name=""/>
        <dsp:cNvSpPr/>
      </dsp:nvSpPr>
      <dsp:spPr>
        <a:xfrm rot="16200000">
          <a:off x="1345655" y="1164772"/>
          <a:ext cx="4662613" cy="2333069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reflection blurRad="12700" stA="26000" endPos="32000" dist="12700" dir="5400000" sy="-100000" rotWithShape="0"/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8750" tIns="0" rIns="156766" bIns="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500" kern="1200" dirty="0" smtClean="0"/>
            <a:t>Méthodologie et Protocole</a:t>
          </a:r>
          <a:endParaRPr lang="fr-FR" sz="2500" kern="1200" dirty="0"/>
        </a:p>
      </dsp:txBody>
      <dsp:txXfrm rot="5400000">
        <a:off x="2510427" y="932523"/>
        <a:ext cx="2333069" cy="2797567"/>
      </dsp:txXfrm>
    </dsp:sp>
    <dsp:sp modelId="{DA769A7E-DB06-4F73-87AC-1D1D3F1B6520}">
      <dsp:nvSpPr>
        <dsp:cNvPr id="0" name=""/>
        <dsp:cNvSpPr/>
      </dsp:nvSpPr>
      <dsp:spPr>
        <a:xfrm rot="16200000">
          <a:off x="3853704" y="1164772"/>
          <a:ext cx="4662613" cy="2333069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reflection blurRad="12700" stA="26000" endPos="32000" dist="12700" dir="5400000" sy="-100000" rotWithShape="0"/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8750" tIns="0" rIns="156766" bIns="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500" kern="1200" dirty="0" smtClean="0"/>
            <a:t>Analyse et Résultats (</a:t>
          </a:r>
          <a:r>
            <a:rPr lang="fr-FR" sz="2500" kern="1200" dirty="0" err="1" smtClean="0"/>
            <a:t>PowerBI</a:t>
          </a:r>
          <a:r>
            <a:rPr lang="fr-FR" sz="2500" kern="1200" dirty="0" smtClean="0"/>
            <a:t>)</a:t>
          </a:r>
          <a:endParaRPr lang="fr-FR" sz="2500" kern="1200" dirty="0"/>
        </a:p>
      </dsp:txBody>
      <dsp:txXfrm rot="5400000">
        <a:off x="5018476" y="932523"/>
        <a:ext cx="2333069" cy="2797567"/>
      </dsp:txXfrm>
    </dsp:sp>
    <dsp:sp modelId="{A717009C-1037-4BE4-8828-2FB5AC57D973}">
      <dsp:nvSpPr>
        <dsp:cNvPr id="0" name=""/>
        <dsp:cNvSpPr/>
      </dsp:nvSpPr>
      <dsp:spPr>
        <a:xfrm rot="16200000">
          <a:off x="6361754" y="1164772"/>
          <a:ext cx="4662613" cy="2333069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reflection blurRad="12700" stA="26000" endPos="32000" dist="12700" dir="5400000" sy="-100000" rotWithShape="0"/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8750" tIns="0" rIns="156766" bIns="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500" kern="1200" dirty="0" smtClean="0"/>
            <a:t>Limites et conclusion</a:t>
          </a:r>
          <a:endParaRPr lang="fr-FR" sz="2500" kern="1200" dirty="0"/>
        </a:p>
      </dsp:txBody>
      <dsp:txXfrm rot="5400000">
        <a:off x="7526526" y="932523"/>
        <a:ext cx="2333069" cy="279756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B028ED-D27B-4744-B459-26638433840F}">
      <dsp:nvSpPr>
        <dsp:cNvPr id="0" name=""/>
        <dsp:cNvSpPr/>
      </dsp:nvSpPr>
      <dsp:spPr>
        <a:xfrm>
          <a:off x="-5893442" y="-914416"/>
          <a:ext cx="7113810" cy="7113810"/>
        </a:xfrm>
        <a:prstGeom prst="blockArc">
          <a:avLst>
            <a:gd name="adj1" fmla="val 18900000"/>
            <a:gd name="adj2" fmla="val 2700000"/>
            <a:gd name="adj3" fmla="val 304"/>
          </a:avLst>
        </a:prstGeom>
        <a:noFill/>
        <a:ln w="15875" cap="rnd" cmpd="sng" algn="ctr">
          <a:solidFill>
            <a:schemeClr val="accent2">
              <a:tint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C70507-D004-43CC-9B13-1943C5229C35}">
      <dsp:nvSpPr>
        <dsp:cNvPr id="0" name=""/>
        <dsp:cNvSpPr/>
      </dsp:nvSpPr>
      <dsp:spPr>
        <a:xfrm>
          <a:off x="814302" y="528497"/>
          <a:ext cx="10962929" cy="105699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990" tIns="71120" rIns="71120" bIns="7112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800" b="1" kern="1200" dirty="0" smtClean="0"/>
            <a:t>H1 &amp; H2 (Conformisme) : Hausse des erreurs face aux experts</a:t>
          </a:r>
          <a:endParaRPr lang="fr-FR" sz="2800" kern="1200" dirty="0"/>
        </a:p>
      </dsp:txBody>
      <dsp:txXfrm>
        <a:off x="814302" y="528497"/>
        <a:ext cx="10962929" cy="1056995"/>
      </dsp:txXfrm>
    </dsp:sp>
    <dsp:sp modelId="{9A84BB93-ACD9-4C53-852C-3EAD1D0DD5A4}">
      <dsp:nvSpPr>
        <dsp:cNvPr id="0" name=""/>
        <dsp:cNvSpPr/>
      </dsp:nvSpPr>
      <dsp:spPr>
        <a:xfrm>
          <a:off x="-7815" y="206847"/>
          <a:ext cx="1644235" cy="1700296"/>
        </a:xfrm>
        <a:prstGeom prst="ellipse">
          <a:avLst/>
        </a:prstGeom>
        <a:blipFill rotWithShape="0">
          <a:blip xmlns:r="http://schemas.openxmlformats.org/officeDocument/2006/relationships" r:embed="rId1"/>
          <a:stretch>
            <a:fillRect/>
          </a:stretch>
        </a:blipFill>
        <a:ln w="15875" cap="rnd" cmpd="sng" algn="ctr">
          <a:solidFill>
            <a:schemeClr val="accent2"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C978F8-CA0D-4EED-8325-FA7980850C5F}">
      <dsp:nvSpPr>
        <dsp:cNvPr id="0" name=""/>
        <dsp:cNvSpPr/>
      </dsp:nvSpPr>
      <dsp:spPr>
        <a:xfrm>
          <a:off x="1198520" y="2113991"/>
          <a:ext cx="10578711" cy="105699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20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990" tIns="71120" rIns="71120" bIns="7112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800" b="1" kern="1200" dirty="0" smtClean="0"/>
            <a:t>H3 (Métacognition) : Chute de la confiance en soi</a:t>
          </a:r>
          <a:endParaRPr lang="fr-FR" sz="2800" kern="1200" dirty="0"/>
        </a:p>
      </dsp:txBody>
      <dsp:txXfrm>
        <a:off x="1198520" y="2113991"/>
        <a:ext cx="10578711" cy="1056995"/>
      </dsp:txXfrm>
    </dsp:sp>
    <dsp:sp modelId="{6311D314-674B-4DF7-B430-DC8EDAEB5828}">
      <dsp:nvSpPr>
        <dsp:cNvPr id="0" name=""/>
        <dsp:cNvSpPr/>
      </dsp:nvSpPr>
      <dsp:spPr>
        <a:xfrm>
          <a:off x="498373" y="1946959"/>
          <a:ext cx="1400294" cy="1391059"/>
        </a:xfrm>
        <a:prstGeom prst="ellipse">
          <a:avLst/>
        </a:prstGeom>
        <a:blipFill rotWithShape="0">
          <a:blip xmlns:r="http://schemas.openxmlformats.org/officeDocument/2006/relationships" r:embed="rId2"/>
          <a:stretch>
            <a:fillRect/>
          </a:stretch>
        </a:blipFill>
        <a:ln w="15875" cap="rnd" cmpd="sng" algn="ctr">
          <a:solidFill>
            <a:schemeClr val="accent2">
              <a:alpha val="90000"/>
              <a:hueOff val="0"/>
              <a:satOff val="0"/>
              <a:lumOff val="0"/>
              <a:alphaOff val="-2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66A1CA-03D7-45C1-83F6-4E4EEDA23694}">
      <dsp:nvSpPr>
        <dsp:cNvPr id="0" name=""/>
        <dsp:cNvSpPr/>
      </dsp:nvSpPr>
      <dsp:spPr>
        <a:xfrm>
          <a:off x="814302" y="3699484"/>
          <a:ext cx="10962929" cy="1056995"/>
        </a:xfrm>
        <a:prstGeom prst="rect">
          <a:avLst/>
        </a:prstGeom>
        <a:solidFill>
          <a:schemeClr val="accent2">
            <a:alpha val="90000"/>
            <a:hueOff val="0"/>
            <a:satOff val="0"/>
            <a:lumOff val="0"/>
            <a:alphaOff val="-40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990" tIns="71120" rIns="71120" bIns="7112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FR" sz="2800" b="1" kern="1200" dirty="0" smtClean="0"/>
            <a:t>H4 (Conflit Moteur Implicite - Mouse </a:t>
          </a:r>
          <a:r>
            <a:rPr lang="fr-FR" sz="2800" b="1" kern="1200" dirty="0" err="1" smtClean="0"/>
            <a:t>Tracking</a:t>
          </a:r>
          <a:r>
            <a:rPr lang="fr-FR" sz="2800" b="1" kern="1200" dirty="0" smtClean="0"/>
            <a:t>) </a:t>
          </a:r>
          <a:r>
            <a:rPr lang="fr-FR" sz="2800" b="1" kern="1200" dirty="0" smtClean="0"/>
            <a:t>: Hausse de l’hésitation physique (souris) </a:t>
          </a:r>
          <a:endParaRPr lang="fr-FR" sz="2800" kern="1200" dirty="0"/>
        </a:p>
      </dsp:txBody>
      <dsp:txXfrm>
        <a:off x="814302" y="3699484"/>
        <a:ext cx="10962929" cy="1056995"/>
      </dsp:txXfrm>
    </dsp:sp>
    <dsp:sp modelId="{866BAC99-EA52-4132-8170-DC87EF847DEC}">
      <dsp:nvSpPr>
        <dsp:cNvPr id="0" name=""/>
        <dsp:cNvSpPr/>
      </dsp:nvSpPr>
      <dsp:spPr>
        <a:xfrm>
          <a:off x="153680" y="3567360"/>
          <a:ext cx="1321244" cy="1321244"/>
        </a:xfrm>
        <a:prstGeom prst="ellipse">
          <a:avLst/>
        </a:prstGeom>
        <a:blipFill rotWithShape="0">
          <a:blip xmlns:r="http://schemas.openxmlformats.org/officeDocument/2006/relationships" r:embed="rId3"/>
          <a:stretch>
            <a:fillRect/>
          </a:stretch>
        </a:blipFill>
        <a:ln w="15875" cap="rnd" cmpd="sng" algn="ctr">
          <a:solidFill>
            <a:schemeClr val="accent2">
              <a:alpha val="90000"/>
              <a:hueOff val="0"/>
              <a:satOff val="0"/>
              <a:lumOff val="0"/>
              <a:alphaOff val="-40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CE37904-F8A2-4E51-8C8D-2EB9E27B435C}" type="datetime1">
              <a:rPr lang="fr-FR" smtClean="0"/>
              <a:t>26/03/2026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A45484C-7992-44E9-9002-213D76072A0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59216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B870E99-AA52-4646-AE77-854CDBAA685F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524A772-5D94-4F12-8B86-44D4FB26368F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88420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410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374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1614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00175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93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514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06887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7487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5008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790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31152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2900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524A772-5D94-4F12-8B86-44D4FB26368F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7846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orme libre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orme libre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orme libre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orme libre 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orme libre 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orme libre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rtlCol="0"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4C921FA-3F4A-41E1-B1A3-2701614529C4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au pied de page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0DDF66-455D-477F-9D1D-DED0A6018D88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rtlCol="0" anchor="b"/>
          <a:lstStyle>
            <a:lvl1pPr algn="r">
              <a:defRPr sz="4000" b="0" cap="none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2572278" y="4777381"/>
            <a:ext cx="8930748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C06315A-EEA3-48EE-862F-816A64CDD555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484312" y="2666999"/>
            <a:ext cx="4895055" cy="3124201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607967" y="2667000"/>
            <a:ext cx="4895056" cy="3124200"/>
          </a:xfrm>
        </p:spPr>
        <p:txBody>
          <a:bodyPr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8EE783C-7A7B-461A-A4AC-CA0387BD4181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772179" y="2658533"/>
            <a:ext cx="4607188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484311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880487" y="2667000"/>
            <a:ext cx="4622537" cy="576262"/>
          </a:xfrm>
        </p:spPr>
        <p:txBody>
          <a:bodyPr rtlCol="0"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607967" y="3335337"/>
            <a:ext cx="4895056" cy="2455862"/>
          </a:xfrm>
        </p:spPr>
        <p:txBody>
          <a:bodyPr rtlCol="0"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D574C5E-17A8-4994-BBF5-B711161FAEBC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47FFF89-E8D1-4615-91CB-13816EE4A7BC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C84613-4B81-4092-872E-E7AB5EE13FD3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262033" y="685799"/>
            <a:ext cx="6240990" cy="5105401"/>
          </a:xfrm>
        </p:spPr>
        <p:txBody>
          <a:bodyPr rtlCol="0"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484312" y="2971800"/>
            <a:ext cx="3549121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0F3CD42-4D20-4798-9487-FBEEAC7A3D25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rtlCol="0" anchor="b">
            <a:normAutofit/>
          </a:bodyPr>
          <a:lstStyle>
            <a:lvl1pPr algn="ctr">
              <a:defRPr sz="2800" b="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4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482724" y="3124199"/>
            <a:ext cx="5426158" cy="1828800"/>
          </a:xfrm>
        </p:spPr>
        <p:txBody>
          <a:bodyPr rtlCol="0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93B4856-37FC-485A-938A-ADBF55F23EB1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rtlCol="0" anchor="b">
            <a:normAutofit/>
          </a:bodyPr>
          <a:lstStyle>
            <a:lvl1pPr algn="ctr">
              <a:defRPr sz="2400" b="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484311" y="5299603"/>
            <a:ext cx="10018711" cy="493712"/>
          </a:xfrm>
        </p:spPr>
        <p:txBody>
          <a:bodyPr rtlCol="0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B66FB2B-11AF-479A-932F-965CC37578A9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rtlCol="0" anchor="ctr">
            <a:normAutofit/>
          </a:bodyPr>
          <a:lstStyle>
            <a:lvl1pPr algn="ctr">
              <a:defRPr sz="3200" b="0" cap="none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484312" y="4343400"/>
            <a:ext cx="10018713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284958F-D871-4471-B630-44BDD082118B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 de texte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Zone de texte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>
          <a:xfrm>
            <a:off x="2436811" y="3428999"/>
            <a:ext cx="8532815" cy="381000"/>
          </a:xfrm>
        </p:spPr>
        <p:txBody>
          <a:bodyPr rtlCol="0"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1" cy="1447800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BB6FA2-9395-442A-B77C-93280767D455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rtlCol="0" anchor="b">
            <a:normAutofit/>
          </a:bodyPr>
          <a:lstStyle>
            <a:lvl1pPr algn="r">
              <a:defRPr sz="3200" b="0" cap="none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484312" y="4777381"/>
            <a:ext cx="10018710" cy="8604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9BD28DD-5FB5-4A5F-8927-19F1B12D96FD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 de texte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Zone de texte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rtlCol="0"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484312" y="4775200"/>
            <a:ext cx="10018710" cy="1016000"/>
          </a:xfrm>
        </p:spPr>
        <p:txBody>
          <a:bodyPr rtlCol="0"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E260C09-B678-4D5E-879F-D29BEFE50680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484311" y="4343400"/>
            <a:ext cx="10018713" cy="14478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 dirty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8151DC0-19EE-4D2A-8A32-C870DAE777C5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B3BEB45-67AA-4B5D-B481-8BCB69CFAEF5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 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484312" y="685800"/>
            <a:ext cx="8019742" cy="5105400"/>
          </a:xfrm>
        </p:spPr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3355B3B-F029-422A-99AB-DD539B7F1C2D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e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orme libre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orme libre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orme libre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orme libre 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orme libre 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orme libre 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Espace réservé du titre 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871E4CF0-E38B-4775-AD07-E42BF4C15D7A}" type="datetime1">
              <a:rPr lang="fr-FR" noProof="0" smtClean="0"/>
              <a:t>26/03/2026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rtl="0"/>
            <a:fld id="{D57F1E4F-1CFF-5643-939E-217C01CDF56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11" Type="http://schemas.openxmlformats.org/officeDocument/2006/relationships/image" Target="../media/image7.png"/><Relationship Id="rId5" Type="http://schemas.openxmlformats.org/officeDocument/2006/relationships/diagramLayout" Target="../diagrams/layout1.xml"/><Relationship Id="rId10" Type="http://schemas.openxmlformats.org/officeDocument/2006/relationships/image" Target="../media/image6.png"/><Relationship Id="rId4" Type="http://schemas.openxmlformats.org/officeDocument/2006/relationships/diagramData" Target="../diagrams/data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E5A92FE9-DB05-4D0D-AF5A-BE8664B9FFB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53D9B26A-5143-49A7-BA98-D871D5BD719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1"/>
            <a:ext cx="5014912" cy="6857999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68B85E55-A2A1-4682-B891-F201358A92D5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45EF6EDB-9B5D-49E9-96FA-1AE08BF95E5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38338226-D6E2-4EEE-B271-DB4BD096DBA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4878FB48-17B3-4A11-8025-DE0945CD4E7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4150A21C-DD6D-4D3C-9E95-7A3CA263BEB9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7505BF04-104D-4180-A284-42FCD6B04DD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652CD06E-EB43-4697-A9C1-290232C3B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796" y="-28665"/>
            <a:ext cx="9021158" cy="3285866"/>
          </a:xfrm>
        </p:spPr>
        <p:txBody>
          <a:bodyPr rtlCol="0">
            <a:normAutofit/>
          </a:bodyPr>
          <a:lstStyle/>
          <a:p>
            <a:pPr algn="l"/>
            <a:r>
              <a:rPr lang="fr-FR" sz="6600" dirty="0"/>
              <a:t>L'AUTORITÉ DU CURSEUR</a:t>
            </a:r>
            <a:endParaRPr lang="fr-FR" sz="62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FBBDE4E-FFA3-44D5-BA0B-7575E2214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3840" y="3187394"/>
            <a:ext cx="7178070" cy="863348"/>
          </a:xfrm>
        </p:spPr>
        <p:txBody>
          <a:bodyPr rtlCol="0">
            <a:normAutofit/>
          </a:bodyPr>
          <a:lstStyle/>
          <a:p>
            <a:pPr algn="l"/>
            <a:r>
              <a:rPr lang="fr-FR" dirty="0">
                <a:solidFill>
                  <a:schemeClr val="tx2">
                    <a:lumMod val="50000"/>
                  </a:schemeClr>
                </a:solidFill>
              </a:rPr>
              <a:t>Influence du statut social et dynamique de groupe sur la décision en environnement numérique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44284"/>
            <a:ext cx="5720080" cy="1974915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r>
              <a:rPr lang="fr-FR" dirty="0"/>
              <a:t>Cadre : UE Outils et méthodes en </a:t>
            </a:r>
            <a:r>
              <a:rPr lang="fr-FR" dirty="0" smtClean="0"/>
              <a:t>SC2</a:t>
            </a:r>
          </a:p>
          <a:p>
            <a:pPr marL="72000"/>
            <a:r>
              <a:rPr lang="fr-FR" dirty="0" smtClean="0"/>
              <a:t>Formation </a:t>
            </a:r>
            <a:r>
              <a:rPr lang="fr-FR" dirty="0"/>
              <a:t>: Master 1 MIASHS - Université Grenoble </a:t>
            </a:r>
            <a:r>
              <a:rPr lang="fr-FR" dirty="0" smtClean="0"/>
              <a:t>Alpes</a:t>
            </a:r>
          </a:p>
          <a:p>
            <a:pPr marL="72000"/>
            <a:r>
              <a:rPr lang="fr-FR" dirty="0" smtClean="0"/>
              <a:t>Enseignant </a:t>
            </a:r>
            <a:r>
              <a:rPr lang="fr-FR" dirty="0"/>
              <a:t>: M. Rafael </a:t>
            </a:r>
            <a:r>
              <a:rPr lang="fr-FR" dirty="0" err="1" smtClean="0"/>
              <a:t>Laboisière</a:t>
            </a:r>
            <a:endParaRPr lang="fr-FR" dirty="0" smtClean="0"/>
          </a:p>
          <a:p>
            <a:pPr marL="72000"/>
            <a:r>
              <a:rPr lang="fr-FR" dirty="0" smtClean="0"/>
              <a:t>Étudiants </a:t>
            </a:r>
            <a:r>
              <a:rPr lang="fr-FR" dirty="0"/>
              <a:t>: Milhane RABEHI &amp; Mahdi DJENNAD </a:t>
            </a:r>
            <a:endParaRPr lang="fr-FR" dirty="0" smtClean="0"/>
          </a:p>
          <a:p>
            <a:pPr marL="72000"/>
            <a:r>
              <a:rPr lang="fr-FR" dirty="0" smtClean="0"/>
              <a:t>Date </a:t>
            </a:r>
            <a:r>
              <a:rPr lang="fr-FR" dirty="0"/>
              <a:t>: </a:t>
            </a:r>
            <a:r>
              <a:rPr lang="fr-FR" dirty="0" smtClean="0"/>
              <a:t>Avril </a:t>
            </a:r>
            <a:r>
              <a:rPr lang="fr-FR" dirty="0" smtClean="0"/>
              <a:t>2026</a:t>
            </a:r>
            <a:endParaRPr lang="fr-FR" dirty="0"/>
          </a:p>
        </p:txBody>
      </p:sp>
      <p:sp>
        <p:nvSpPr>
          <p:cNvPr id="16" name="Rectangle 15"/>
          <p:cNvSpPr/>
          <p:nvPr/>
        </p:nvSpPr>
        <p:spPr>
          <a:xfrm>
            <a:off x="9306560" y="-17518"/>
            <a:ext cx="2885439" cy="173972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1026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130" y="86478"/>
            <a:ext cx="2651123" cy="1626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1628162" y="6454074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1</a:t>
            </a:fld>
            <a:endParaRPr lang="fr-FR" sz="2000" noProof="0"/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5750" y="2233796"/>
            <a:ext cx="3228331" cy="2104139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2049" y="4442636"/>
            <a:ext cx="3455387" cy="229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466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60000"/>
                <a:lumOff val="40000"/>
              </a:schemeClr>
            </a:gs>
            <a:gs pos="100000">
              <a:schemeClr val="bg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Sommaire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17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1592409" y="6417307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2</a:t>
            </a:fld>
            <a:endParaRPr lang="fr-FR" sz="2000" noProof="0" dirty="0"/>
          </a:p>
        </p:txBody>
      </p:sp>
      <p:graphicFrame>
        <p:nvGraphicFramePr>
          <p:cNvPr id="3" name="Diagramme 2"/>
          <p:cNvGraphicFramePr/>
          <p:nvPr>
            <p:extLst>
              <p:ext uri="{D42A27DB-BD31-4B8C-83A1-F6EECF244321}">
                <p14:modId xmlns:p14="http://schemas.microsoft.com/office/powerpoint/2010/main" val="1736061119"/>
              </p:ext>
            </p:extLst>
          </p:nvPr>
        </p:nvGraphicFramePr>
        <p:xfrm>
          <a:off x="1318216" y="1600198"/>
          <a:ext cx="9861974" cy="46626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Image 6"/>
          <p:cNvPicPr>
            <a:picLocks noChangeAspect="1"/>
          </p:cNvPicPr>
          <p:nvPr/>
        </p:nvPicPr>
        <p:blipFill>
          <a:blip r:embed="rId9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026256" y="2582863"/>
            <a:ext cx="916573" cy="916573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10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538907" y="2582863"/>
            <a:ext cx="961534" cy="961534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11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43435" y="2467795"/>
            <a:ext cx="1076602" cy="10766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1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488273" y="2603297"/>
            <a:ext cx="875703" cy="875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7366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lumMod val="60000"/>
                <a:lumOff val="40000"/>
              </a:schemeClr>
            </a:gs>
            <a:gs pos="100000">
              <a:schemeClr val="bg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9419220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/>
              <a:t>CONTEXTE SCIENTIFIQUE ET OBJECTIFS 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17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11592409" y="6417307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3</a:t>
            </a:fld>
            <a:endParaRPr lang="fr-FR" sz="2000" noProof="0" dirty="0"/>
          </a:p>
        </p:txBody>
      </p:sp>
      <p:sp>
        <p:nvSpPr>
          <p:cNvPr id="15" name="Rectangle 14"/>
          <p:cNvSpPr/>
          <p:nvPr/>
        </p:nvSpPr>
        <p:spPr>
          <a:xfrm>
            <a:off x="358547" y="1651768"/>
            <a:ext cx="3409481" cy="473356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à coins arrondis 2"/>
          <p:cNvSpPr/>
          <p:nvPr/>
        </p:nvSpPr>
        <p:spPr>
          <a:xfrm>
            <a:off x="435992" y="1711988"/>
            <a:ext cx="3256217" cy="156484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2400" dirty="0" smtClean="0"/>
              <a:t>Point de </a:t>
            </a:r>
          </a:p>
          <a:p>
            <a:pPr algn="r"/>
            <a:r>
              <a:rPr lang="fr-FR" sz="2400" dirty="0" smtClean="0"/>
              <a:t>départ </a:t>
            </a:r>
          </a:p>
          <a:p>
            <a:pPr algn="r"/>
            <a:r>
              <a:rPr lang="fr-FR" sz="2400" dirty="0" smtClean="0"/>
              <a:t>scientifique</a:t>
            </a:r>
            <a:endParaRPr lang="fr-FR" sz="2400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5411" y="1891225"/>
            <a:ext cx="1263192" cy="1263192"/>
          </a:xfrm>
          <a:prstGeom prst="rect">
            <a:avLst/>
          </a:prstGeom>
        </p:spPr>
      </p:pic>
      <p:sp>
        <p:nvSpPr>
          <p:cNvPr id="14" name="Rectangle à coins arrondis 13"/>
          <p:cNvSpPr/>
          <p:nvPr/>
        </p:nvSpPr>
        <p:spPr>
          <a:xfrm>
            <a:off x="435992" y="3644482"/>
            <a:ext cx="3256218" cy="122548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Transposition du conformisme social (Asch) aux interfaces numériques (IHM).</a:t>
            </a:r>
          </a:p>
        </p:txBody>
      </p:sp>
      <p:sp>
        <p:nvSpPr>
          <p:cNvPr id="30" name="Rectangle à coins arrondis 29"/>
          <p:cNvSpPr/>
          <p:nvPr/>
        </p:nvSpPr>
        <p:spPr>
          <a:xfrm>
            <a:off x="435992" y="5049012"/>
            <a:ext cx="3256218" cy="122548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L'impact du biais d'autorité généré par des agents virtuels (Bots).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62935" y="1651768"/>
            <a:ext cx="3409481" cy="37178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à coins arrondis 17"/>
          <p:cNvSpPr/>
          <p:nvPr/>
        </p:nvSpPr>
        <p:spPr>
          <a:xfrm>
            <a:off x="4418905" y="1711987"/>
            <a:ext cx="3256217" cy="1564849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2400" dirty="0" smtClean="0"/>
              <a:t>Problématique</a:t>
            </a:r>
            <a:endParaRPr lang="fr-FR" sz="2000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5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9352" y="1971222"/>
            <a:ext cx="1046377" cy="1046377"/>
          </a:xfrm>
          <a:prstGeom prst="rect">
            <a:avLst/>
          </a:prstGeom>
        </p:spPr>
      </p:pic>
      <p:sp>
        <p:nvSpPr>
          <p:cNvPr id="31" name="Rectangle à coins arrondis 30"/>
          <p:cNvSpPr/>
          <p:nvPr/>
        </p:nvSpPr>
        <p:spPr>
          <a:xfrm>
            <a:off x="4462868" y="3644482"/>
            <a:ext cx="3256218" cy="1630838"/>
          </a:xfrm>
          <a:prstGeom prst="round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Un simple statut social affiché à l'écran (Expert vs Novice) suffit-il à manipuler nos décisions et nos mouvements 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34607" y="1661179"/>
            <a:ext cx="3409481" cy="503185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à coins arrondis 18"/>
          <p:cNvSpPr/>
          <p:nvPr/>
        </p:nvSpPr>
        <p:spPr>
          <a:xfrm>
            <a:off x="8438420" y="1740397"/>
            <a:ext cx="3256217" cy="1564849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2400" dirty="0" smtClean="0"/>
              <a:t>Nos trois </a:t>
            </a:r>
          </a:p>
          <a:p>
            <a:pPr algn="r"/>
            <a:r>
              <a:rPr lang="fr-FR" sz="2400" dirty="0" smtClean="0"/>
              <a:t>objectifs</a:t>
            </a:r>
            <a:endParaRPr lang="fr-FR" sz="2400" dirty="0"/>
          </a:p>
        </p:txBody>
      </p:sp>
      <p:pic>
        <p:nvPicPr>
          <p:cNvPr id="12" name="Image 11"/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656198" y="1991958"/>
            <a:ext cx="1025641" cy="1025641"/>
          </a:xfrm>
          <a:prstGeom prst="rect">
            <a:avLst/>
          </a:prstGeom>
        </p:spPr>
      </p:pic>
      <p:sp>
        <p:nvSpPr>
          <p:cNvPr id="33" name="Rectangle à coins arrondis 32"/>
          <p:cNvSpPr/>
          <p:nvPr/>
        </p:nvSpPr>
        <p:spPr>
          <a:xfrm>
            <a:off x="8424168" y="3644482"/>
            <a:ext cx="3256218" cy="87880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Mesurer la soumission de l'utilisateur (Taux d'erreur).</a:t>
            </a:r>
          </a:p>
        </p:txBody>
      </p:sp>
      <p:sp>
        <p:nvSpPr>
          <p:cNvPr id="34" name="Rectangle à coins arrondis 33"/>
          <p:cNvSpPr/>
          <p:nvPr/>
        </p:nvSpPr>
        <p:spPr>
          <a:xfrm>
            <a:off x="8424168" y="4682774"/>
            <a:ext cx="3256218" cy="87880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Évaluer la perte de confiance en soi (Métacognition).</a:t>
            </a:r>
          </a:p>
        </p:txBody>
      </p:sp>
      <p:sp>
        <p:nvSpPr>
          <p:cNvPr id="35" name="Rectangle à coins arrondis 34"/>
          <p:cNvSpPr/>
          <p:nvPr/>
        </p:nvSpPr>
        <p:spPr>
          <a:xfrm>
            <a:off x="8411239" y="5721066"/>
            <a:ext cx="3256218" cy="878803"/>
          </a:xfrm>
          <a:prstGeom prst="round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fr-FR" dirty="0"/>
              <a:t>Analyser le conflit moteur physique (Trajectoires de la souris</a:t>
            </a:r>
            <a:r>
              <a:rPr lang="fr-FR" dirty="0" smtClean="0"/>
              <a:t>).</a:t>
            </a:r>
            <a:endParaRPr lang="fr-FR" dirty="0"/>
          </a:p>
        </p:txBody>
      </p:sp>
      <p:cxnSp>
        <p:nvCxnSpPr>
          <p:cNvPr id="22" name="Connecteur droit 21"/>
          <p:cNvCxnSpPr/>
          <p:nvPr/>
        </p:nvCxnSpPr>
        <p:spPr>
          <a:xfrm flipV="1">
            <a:off x="544723" y="3459637"/>
            <a:ext cx="3024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38"/>
          <p:cNvCxnSpPr/>
          <p:nvPr/>
        </p:nvCxnSpPr>
        <p:spPr>
          <a:xfrm flipV="1">
            <a:off x="4552686" y="3459637"/>
            <a:ext cx="30240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Connecteur droit 39"/>
          <p:cNvCxnSpPr/>
          <p:nvPr/>
        </p:nvCxnSpPr>
        <p:spPr>
          <a:xfrm flipV="1">
            <a:off x="8568409" y="3459637"/>
            <a:ext cx="3024000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6845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50000"/>
              </a:schemeClr>
            </a:gs>
            <a:gs pos="23000">
              <a:schemeClr val="bg2">
                <a:lumMod val="60000"/>
                <a:lumOff val="40000"/>
              </a:schemeClr>
            </a:gs>
            <a:gs pos="69000">
              <a:srgbClr val="0070C0"/>
            </a:gs>
            <a:gs pos="97000">
              <a:srgbClr val="002060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96" y="261063"/>
            <a:ext cx="7411825" cy="784467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VARIABLES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13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xfrm>
            <a:off x="11584325" y="6429928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4</a:t>
            </a:fld>
            <a:endParaRPr lang="fr-FR" sz="2000" noProof="0" dirty="0"/>
          </a:p>
        </p:txBody>
      </p:sp>
      <p:sp>
        <p:nvSpPr>
          <p:cNvPr id="46" name="Rectangle 45"/>
          <p:cNvSpPr/>
          <p:nvPr/>
        </p:nvSpPr>
        <p:spPr>
          <a:xfrm>
            <a:off x="640051" y="4191778"/>
            <a:ext cx="6583868" cy="2441108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/>
          <p:cNvSpPr/>
          <p:nvPr/>
        </p:nvSpPr>
        <p:spPr>
          <a:xfrm>
            <a:off x="7909559" y="1734580"/>
            <a:ext cx="4019282" cy="4477684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/>
          <p:cNvSpPr/>
          <p:nvPr/>
        </p:nvSpPr>
        <p:spPr>
          <a:xfrm>
            <a:off x="657563" y="1045531"/>
            <a:ext cx="6583680" cy="3041986"/>
          </a:xfrm>
          <a:prstGeom prst="rect">
            <a:avLst/>
          </a:prstGeom>
          <a:solidFill>
            <a:schemeClr val="accent1">
              <a:alpha val="61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Rectangle à coins arrondis 15"/>
          <p:cNvSpPr/>
          <p:nvPr/>
        </p:nvSpPr>
        <p:spPr>
          <a:xfrm>
            <a:off x="715464" y="1754895"/>
            <a:ext cx="4122660" cy="104350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fr-FR" sz="2400" dirty="0" smtClean="0"/>
              <a:t>VI 1 : Statut social (inter-sujet)</a:t>
            </a:r>
          </a:p>
          <a:p>
            <a:pPr algn="r"/>
            <a:r>
              <a:rPr lang="fr-FR" sz="1400" dirty="0" smtClean="0"/>
              <a:t>[A] Groupe expert (Ingénieur, médecin, …)</a:t>
            </a:r>
          </a:p>
          <a:p>
            <a:pPr algn="r"/>
            <a:r>
              <a:rPr lang="fr-FR" sz="1400" dirty="0" smtClean="0"/>
              <a:t>[B] Groupe novice (Etudiant, inconnu, …)</a:t>
            </a:r>
          </a:p>
        </p:txBody>
      </p:sp>
      <p:sp>
        <p:nvSpPr>
          <p:cNvPr id="17" name="Rectangle à coins arrondis 16"/>
          <p:cNvSpPr/>
          <p:nvPr/>
        </p:nvSpPr>
        <p:spPr>
          <a:xfrm>
            <a:off x="2601798" y="2827888"/>
            <a:ext cx="4316952" cy="113877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fr-FR" sz="2400" dirty="0" smtClean="0"/>
              <a:t>VI 2 : Type d’Essai (intra-sujet)</a:t>
            </a:r>
          </a:p>
          <a:p>
            <a:pPr algn="r"/>
            <a:r>
              <a:rPr lang="fr-FR" sz="1400" dirty="0" smtClean="0"/>
              <a:t>[A] Critique (Réponse fausse des bots)</a:t>
            </a:r>
          </a:p>
          <a:p>
            <a:pPr algn="r"/>
            <a:r>
              <a:rPr lang="fr-FR" sz="1400" dirty="0" smtClean="0"/>
              <a:t>[B] Neutre (Réponse juste des bots)</a:t>
            </a:r>
          </a:p>
          <a:p>
            <a:pPr algn="r"/>
            <a:r>
              <a:rPr lang="fr-FR" sz="1400" dirty="0" smtClean="0"/>
              <a:t>(« éparpillement </a:t>
            </a:r>
            <a:r>
              <a:rPr lang="fr-FR" sz="1400" dirty="0"/>
              <a:t>réaliste" justifie notre algorithme de </a:t>
            </a:r>
            <a:r>
              <a:rPr lang="fr-FR" sz="1400" dirty="0" smtClean="0"/>
              <a:t>doute)</a:t>
            </a:r>
            <a:endParaRPr lang="fr-FR" sz="1400" dirty="0"/>
          </a:p>
        </p:txBody>
      </p:sp>
      <p:sp>
        <p:nvSpPr>
          <p:cNvPr id="18" name="Rectangle à coins arrondis 17"/>
          <p:cNvSpPr/>
          <p:nvPr/>
        </p:nvSpPr>
        <p:spPr>
          <a:xfrm>
            <a:off x="2103250" y="4275578"/>
            <a:ext cx="4226560" cy="52530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400" dirty="0" smtClean="0"/>
              <a:t>Variables Dépendantes (VD)</a:t>
            </a:r>
            <a:endParaRPr lang="fr-FR" sz="1100" dirty="0"/>
          </a:p>
        </p:txBody>
      </p:sp>
      <p:sp>
        <p:nvSpPr>
          <p:cNvPr id="19" name="Rectangle à coins arrondis 18"/>
          <p:cNvSpPr/>
          <p:nvPr/>
        </p:nvSpPr>
        <p:spPr>
          <a:xfrm>
            <a:off x="2103250" y="1092995"/>
            <a:ext cx="4226560" cy="52218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400" dirty="0" smtClean="0"/>
              <a:t>Variables Indépendantes (VI)</a:t>
            </a:r>
            <a:endParaRPr lang="fr-FR" sz="1100" dirty="0"/>
          </a:p>
        </p:txBody>
      </p:sp>
      <p:sp>
        <p:nvSpPr>
          <p:cNvPr id="22" name="Rectangle à coins arrondis 21"/>
          <p:cNvSpPr/>
          <p:nvPr/>
        </p:nvSpPr>
        <p:spPr>
          <a:xfrm>
            <a:off x="715464" y="4884679"/>
            <a:ext cx="4687166" cy="52865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2400" dirty="0" smtClean="0"/>
              <a:t>VD 1 : Taux de conformisme</a:t>
            </a:r>
            <a:r>
              <a:rPr lang="fr-FR" sz="2000" dirty="0" smtClean="0"/>
              <a:t> </a:t>
            </a:r>
            <a:r>
              <a:rPr lang="fr-FR" sz="1400" dirty="0" smtClean="0"/>
              <a:t>(% d’erreurs) </a:t>
            </a:r>
          </a:p>
        </p:txBody>
      </p:sp>
      <p:sp>
        <p:nvSpPr>
          <p:cNvPr id="39" name="Rectangle à coins arrondis 38"/>
          <p:cNvSpPr/>
          <p:nvPr/>
        </p:nvSpPr>
        <p:spPr>
          <a:xfrm>
            <a:off x="8074448" y="1940426"/>
            <a:ext cx="3605539" cy="525302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400" dirty="0" smtClean="0"/>
              <a:t>Variables de contrôle (VC)</a:t>
            </a:r>
            <a:endParaRPr lang="fr-FR" sz="1100" dirty="0"/>
          </a:p>
        </p:txBody>
      </p:sp>
      <p:sp>
        <p:nvSpPr>
          <p:cNvPr id="40" name="Rectangle à coins arrondis 39"/>
          <p:cNvSpPr/>
          <p:nvPr/>
        </p:nvSpPr>
        <p:spPr>
          <a:xfrm>
            <a:off x="8074449" y="2606373"/>
            <a:ext cx="3692078" cy="353047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fr-FR" sz="2400" b="1" dirty="0"/>
              <a:t>16 </a:t>
            </a:r>
            <a:r>
              <a:rPr lang="fr-FR" sz="2400" b="1" dirty="0" smtClean="0"/>
              <a:t>questions</a:t>
            </a:r>
            <a:r>
              <a:rPr lang="fr-FR" sz="2400" dirty="0" smtClean="0"/>
              <a:t> identiques </a:t>
            </a:r>
            <a:r>
              <a:rPr lang="fr-FR" sz="2400" dirty="0"/>
              <a:t>pour tous</a:t>
            </a:r>
            <a:r>
              <a:rPr lang="fr-FR" sz="2400" dirty="0" smtClean="0"/>
              <a:t>. 5 questions ou tout les bots ont faux (question critique)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fr-FR" sz="2400" dirty="0" smtClean="0"/>
              <a:t>Nombre </a:t>
            </a:r>
            <a:r>
              <a:rPr lang="fr-FR" sz="2400" dirty="0"/>
              <a:t>d'agents fixe (4 bots) </a:t>
            </a:r>
          </a:p>
          <a:p>
            <a:pPr marL="342900" indent="-342900" algn="ctr">
              <a:buFont typeface="Wingdings" panose="05000000000000000000" pitchFamily="2" charset="2"/>
              <a:buChar char="v"/>
            </a:pPr>
            <a:r>
              <a:rPr lang="fr-FR" sz="2400" dirty="0"/>
              <a:t>Interface souris </a:t>
            </a:r>
            <a:r>
              <a:rPr lang="fr-FR" sz="2400" dirty="0" smtClean="0"/>
              <a:t>obligatoire.</a:t>
            </a:r>
            <a:endParaRPr lang="fr-FR" sz="900" dirty="0"/>
          </a:p>
        </p:txBody>
      </p:sp>
      <p:sp>
        <p:nvSpPr>
          <p:cNvPr id="45" name="Rectangle à coins arrondis 44"/>
          <p:cNvSpPr/>
          <p:nvPr/>
        </p:nvSpPr>
        <p:spPr>
          <a:xfrm>
            <a:off x="1401104" y="5365750"/>
            <a:ext cx="4505188" cy="53761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2400" dirty="0" smtClean="0"/>
              <a:t>VD 2 : Confiance / Mise </a:t>
            </a:r>
            <a:r>
              <a:rPr lang="fr-FR" sz="1400" dirty="0" smtClean="0"/>
              <a:t>(1 à 5)</a:t>
            </a:r>
            <a:endParaRPr lang="fr-FR" sz="1600" dirty="0" smtClean="0"/>
          </a:p>
        </p:txBody>
      </p:sp>
      <p:sp>
        <p:nvSpPr>
          <p:cNvPr id="44" name="Rectangle à coins arrondis 43"/>
          <p:cNvSpPr/>
          <p:nvPr/>
        </p:nvSpPr>
        <p:spPr>
          <a:xfrm>
            <a:off x="2210505" y="5786105"/>
            <a:ext cx="4857836" cy="518758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2400" dirty="0" smtClean="0"/>
              <a:t>VD 3 : Conflit Moteur</a:t>
            </a:r>
            <a:r>
              <a:rPr lang="fr-FR" sz="2000" dirty="0" smtClean="0"/>
              <a:t> </a:t>
            </a:r>
            <a:r>
              <a:rPr lang="fr-FR" sz="1400" dirty="0" smtClean="0"/>
              <a:t>(AUC – Mouse </a:t>
            </a:r>
            <a:r>
              <a:rPr lang="fr-FR" sz="1400" dirty="0" err="1" smtClean="0"/>
              <a:t>tracking</a:t>
            </a:r>
            <a:r>
              <a:rPr lang="fr-FR" sz="1400" dirty="0" smtClean="0"/>
              <a:t>)</a:t>
            </a:r>
            <a:endParaRPr lang="fr-FR" sz="900" dirty="0"/>
          </a:p>
        </p:txBody>
      </p:sp>
      <p:sp>
        <p:nvSpPr>
          <p:cNvPr id="30" name="Rectangle à coins arrondis 29"/>
          <p:cNvSpPr/>
          <p:nvPr/>
        </p:nvSpPr>
        <p:spPr>
          <a:xfrm>
            <a:off x="7018415" y="43399"/>
            <a:ext cx="3692078" cy="921422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2400" b="1" dirty="0" smtClean="0"/>
              <a:t>Echantillon :</a:t>
            </a:r>
          </a:p>
          <a:p>
            <a:pPr algn="ctr"/>
            <a:r>
              <a:rPr lang="fr-FR" sz="2400" b="1" dirty="0" smtClean="0"/>
              <a:t>Etudiant de 18 à 25 ans</a:t>
            </a:r>
            <a:endParaRPr lang="fr-FR" sz="900" dirty="0"/>
          </a:p>
        </p:txBody>
      </p:sp>
    </p:spTree>
    <p:extLst>
      <p:ext uri="{BB962C8B-B14F-4D97-AF65-F5344CB8AC3E}">
        <p14:creationId xmlns:p14="http://schemas.microsoft.com/office/powerpoint/2010/main" val="29748387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50000"/>
              </a:schemeClr>
            </a:gs>
            <a:gs pos="23000">
              <a:schemeClr val="bg2">
                <a:lumMod val="60000"/>
                <a:lumOff val="40000"/>
              </a:schemeClr>
            </a:gs>
            <a:gs pos="69000">
              <a:srgbClr val="0070C0"/>
            </a:gs>
            <a:gs pos="97000">
              <a:srgbClr val="002060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311" y="114589"/>
            <a:ext cx="7411825" cy="784467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HYPOTHÈSES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13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xfrm>
            <a:off x="11584325" y="6429928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5</a:t>
            </a:fld>
            <a:endParaRPr lang="fr-FR" sz="2000" noProof="0" dirty="0"/>
          </a:p>
        </p:txBody>
      </p:sp>
      <p:graphicFrame>
        <p:nvGraphicFramePr>
          <p:cNvPr id="31" name="Diagramme 30"/>
          <p:cNvGraphicFramePr/>
          <p:nvPr>
            <p:extLst>
              <p:ext uri="{D42A27DB-BD31-4B8C-83A1-F6EECF244321}">
                <p14:modId xmlns:p14="http://schemas.microsoft.com/office/powerpoint/2010/main" val="2376131362"/>
              </p:ext>
            </p:extLst>
          </p:nvPr>
        </p:nvGraphicFramePr>
        <p:xfrm>
          <a:off x="296529" y="1054232"/>
          <a:ext cx="11769417" cy="5284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1166374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93055"/>
            </a:gs>
            <a:gs pos="100000">
              <a:schemeClr val="bg1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311" y="-288589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/>
              <a:t>OUTILS ET TECHNOLOGIES</a:t>
            </a:r>
            <a:endParaRPr lang="fr-FR" dirty="0">
              <a:latin typeface="Eras Bold ITC" panose="020B0907030504020204" pitchFamily="34" charset="0"/>
            </a:endParaRPr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69342" y="98148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/>
        </p:nvSpPr>
        <p:spPr>
          <a:xfrm>
            <a:off x="286515" y="1261591"/>
            <a:ext cx="36905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Matériel &amp; Développement </a:t>
            </a:r>
          </a:p>
        </p:txBody>
      </p:sp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xfrm>
            <a:off x="11589932" y="6441138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6</a:t>
            </a:fld>
            <a:endParaRPr lang="fr-FR" sz="2000" noProof="0" dirty="0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293" y="1336675"/>
            <a:ext cx="4795455" cy="42419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02795" y="1763690"/>
            <a:ext cx="615704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err="1" smtClean="0"/>
              <a:t>Stack</a:t>
            </a:r>
            <a:r>
              <a:rPr lang="fr-FR" dirty="0" smtClean="0"/>
              <a:t> </a:t>
            </a:r>
            <a:r>
              <a:rPr lang="fr-FR" dirty="0"/>
              <a:t>Technique : HTML5, CSS3, JavaScript (</a:t>
            </a:r>
            <a:r>
              <a:rPr lang="fr-FR" dirty="0" err="1"/>
              <a:t>Vanilla</a:t>
            </a:r>
            <a:r>
              <a:rPr lang="fr-FR" dirty="0"/>
              <a:t>). Hébergement sur serveur dédié</a:t>
            </a:r>
            <a:r>
              <a:rPr lang="fr-FR" dirty="0" smtClean="0"/>
              <a:t>.</a:t>
            </a:r>
          </a:p>
          <a:p>
            <a:endParaRPr lang="fr-FR" dirty="0" smtClean="0"/>
          </a:p>
        </p:txBody>
      </p:sp>
      <p:sp>
        <p:nvSpPr>
          <p:cNvPr id="10" name="Rectangle 9"/>
          <p:cNvSpPr/>
          <p:nvPr/>
        </p:nvSpPr>
        <p:spPr>
          <a:xfrm>
            <a:off x="331897" y="2803392"/>
            <a:ext cx="48197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Réalisme Psychologique (</a:t>
            </a:r>
            <a:r>
              <a:rPr lang="fr-FR" sz="2400" dirty="0" err="1">
                <a:solidFill>
                  <a:schemeClr val="tx2">
                    <a:lumMod val="50000"/>
                  </a:schemeClr>
                </a:solidFill>
              </a:rPr>
              <a:t>Deception</a:t>
            </a:r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2795" y="3326468"/>
            <a:ext cx="619562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Simulation réseau : Création de faux délais (</a:t>
            </a:r>
            <a:r>
              <a:rPr lang="fr-FR" dirty="0" err="1"/>
              <a:t>Lag</a:t>
            </a:r>
            <a:r>
              <a:rPr lang="fr-FR" dirty="0"/>
              <a:t>/Ping dynamiques) pour crédibiliser le multijoueur.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Lobby asynchrone : Présentation séquencée des profils pour ancrer notre Variable Indépendante (Expert vs Novice</a:t>
            </a:r>
            <a:r>
              <a:rPr lang="fr-FR" dirty="0" smtClean="0"/>
              <a:t>).</a:t>
            </a:r>
          </a:p>
          <a:p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359693" y="4920169"/>
            <a:ext cx="50715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Génération Algorithmique des « Bots 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825" y="5416691"/>
            <a:ext cx="644546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Trajectoires calculées mathématiquement (Courbes de Bézier).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Simulation réaliste de la signature motrice humaine (intégration de phases d'hésitation et d'attraction).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233674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93055"/>
            </a:gs>
            <a:gs pos="100000">
              <a:schemeClr val="bg1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311" y="-288589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Protocole &amp; RGPD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xfrm>
            <a:off x="11589932" y="6441138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7</a:t>
            </a:fld>
            <a:endParaRPr lang="fr-FR" sz="2000" noProof="0" dirty="0"/>
          </a:p>
        </p:txBody>
      </p:sp>
      <p:sp>
        <p:nvSpPr>
          <p:cNvPr id="19" name="Rectangle 18"/>
          <p:cNvSpPr/>
          <p:nvPr/>
        </p:nvSpPr>
        <p:spPr>
          <a:xfrm>
            <a:off x="3823274" y="1385827"/>
            <a:ext cx="47339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chemeClr val="tx2">
                    <a:lumMod val="50000"/>
                  </a:schemeClr>
                </a:solidFill>
              </a:rPr>
              <a:t>Procédure (Déroulement d’un essai)</a:t>
            </a:r>
            <a:endParaRPr lang="fr-FR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20" name="Image 19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842" b="91420"/>
          <a:stretch/>
        </p:blipFill>
        <p:spPr>
          <a:xfrm>
            <a:off x="277982" y="2133093"/>
            <a:ext cx="11636036" cy="1318641"/>
          </a:xfrm>
          <a:prstGeom prst="rect">
            <a:avLst/>
          </a:prstGeom>
        </p:spPr>
      </p:pic>
      <p:sp>
        <p:nvSpPr>
          <p:cNvPr id="8" name="Rectangle à coins arrondis 7"/>
          <p:cNvSpPr/>
          <p:nvPr/>
        </p:nvSpPr>
        <p:spPr>
          <a:xfrm>
            <a:off x="1074656" y="4777581"/>
            <a:ext cx="4562573" cy="1663557"/>
          </a:xfrm>
          <a:prstGeom prst="roundRect">
            <a:avLst/>
          </a:prstGeom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/>
              <a:t>Stimuli : 16 questions de culture générale (11 neutres / 5 critiques).</a:t>
            </a:r>
          </a:p>
        </p:txBody>
      </p:sp>
      <p:sp>
        <p:nvSpPr>
          <p:cNvPr id="30" name="Rectangle à coins arrondis 29"/>
          <p:cNvSpPr/>
          <p:nvPr/>
        </p:nvSpPr>
        <p:spPr>
          <a:xfrm>
            <a:off x="6785235" y="4777581"/>
            <a:ext cx="4562573" cy="1663557"/>
          </a:xfrm>
          <a:prstGeom prst="roundRect">
            <a:avLst/>
          </a:prstGeom>
          <a:ln>
            <a:noFill/>
          </a:ln>
          <a:effectLst>
            <a:outerShdw blurRad="107950" dist="12700" dir="5400000" algn="ctr">
              <a:srgbClr val="000000"/>
            </a:outerShdw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/>
              <a:t>Éthique : Données 100% </a:t>
            </a:r>
            <a:r>
              <a:rPr lang="fr-FR" sz="2400" dirty="0" err="1"/>
              <a:t>anonymisées</a:t>
            </a:r>
            <a:r>
              <a:rPr lang="fr-FR" sz="2400" dirty="0"/>
              <a:t> (ex: "</a:t>
            </a:r>
            <a:r>
              <a:rPr lang="fr-FR" sz="2400" dirty="0" smtClean="0"/>
              <a:t>S8_1") </a:t>
            </a:r>
            <a:r>
              <a:rPr lang="fr-FR" sz="2400" dirty="0"/>
              <a:t>dans le strict respect de la RGPD.</a:t>
            </a:r>
          </a:p>
        </p:txBody>
      </p:sp>
    </p:spTree>
    <p:extLst>
      <p:ext uri="{BB962C8B-B14F-4D97-AF65-F5344CB8AC3E}">
        <p14:creationId xmlns:p14="http://schemas.microsoft.com/office/powerpoint/2010/main" val="34779042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93055"/>
            </a:gs>
            <a:gs pos="100000">
              <a:schemeClr val="bg1"/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311" y="-288589"/>
            <a:ext cx="7411825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err="1" smtClean="0"/>
              <a:t>Demo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Espace réservé du numéro de diapositive 14"/>
          <p:cNvSpPr>
            <a:spLocks noGrp="1"/>
          </p:cNvSpPr>
          <p:nvPr>
            <p:ph type="sldNum" sz="quarter" idx="12"/>
          </p:nvPr>
        </p:nvSpPr>
        <p:spPr>
          <a:xfrm>
            <a:off x="11589932" y="6441138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2000" noProof="0" smtClean="0"/>
              <a:pPr rtl="0"/>
              <a:t>8</a:t>
            </a:fld>
            <a:endParaRPr lang="fr-FR" sz="2000" noProof="0" dirty="0"/>
          </a:p>
        </p:txBody>
      </p:sp>
    </p:spTree>
    <p:extLst>
      <p:ext uri="{BB962C8B-B14F-4D97-AF65-F5344CB8AC3E}">
        <p14:creationId xmlns:p14="http://schemas.microsoft.com/office/powerpoint/2010/main" val="12189687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156B6"/>
            </a:gs>
            <a:gs pos="50000">
              <a:srgbClr val="002060"/>
            </a:gs>
            <a:gs pos="100000">
              <a:srgbClr val="00006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8843748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RÉSULTATS – Le conformisme (H1 &amp; H2)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0274" y="1563506"/>
            <a:ext cx="8610886" cy="4950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9463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156B6"/>
            </a:gs>
            <a:gs pos="50000">
              <a:srgbClr val="002060"/>
            </a:gs>
            <a:gs pos="100000">
              <a:srgbClr val="00006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8843748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RÉSULTATS - </a:t>
            </a:r>
            <a:r>
              <a:rPr lang="fr-FR" dirty="0"/>
              <a:t>Métacognition &amp; Conflit Moteur (H3 &amp; H4)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1793" y="1894168"/>
            <a:ext cx="8186130" cy="4667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03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156B6"/>
            </a:gs>
            <a:gs pos="50000">
              <a:srgbClr val="002060"/>
            </a:gs>
            <a:gs pos="100000">
              <a:srgbClr val="00006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8843748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RÉSULTATS - </a:t>
            </a:r>
            <a:r>
              <a:rPr lang="fr-FR" dirty="0"/>
              <a:t>Métacognition &amp; Conflit Moteur (H3 &amp; H4)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3946" y="1809811"/>
            <a:ext cx="8054257" cy="489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204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156B6"/>
            </a:gs>
            <a:gs pos="50000">
              <a:srgbClr val="002060"/>
            </a:gs>
            <a:gs pos="100000">
              <a:srgbClr val="00006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218440"/>
            <a:ext cx="8843748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Limites &amp; Biais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11600891" y="6492875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1800" noProof="0" smtClean="0"/>
              <a:pPr rtl="0"/>
              <a:t>12</a:t>
            </a:fld>
            <a:endParaRPr lang="fr-FR" sz="1800" noProof="0" dirty="0"/>
          </a:p>
        </p:txBody>
      </p:sp>
      <p:sp>
        <p:nvSpPr>
          <p:cNvPr id="5" name="Rectangle 4"/>
          <p:cNvSpPr/>
          <p:nvPr/>
        </p:nvSpPr>
        <p:spPr>
          <a:xfrm>
            <a:off x="1109101" y="2386159"/>
            <a:ext cx="438457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Échantillon </a:t>
            </a:r>
            <a:r>
              <a:rPr lang="fr-FR" dirty="0"/>
              <a:t>restreint (N = 14</a:t>
            </a:r>
            <a:r>
              <a:rPr lang="fr-FR" dirty="0" smtClean="0"/>
              <a:t>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Manque </a:t>
            </a:r>
            <a:r>
              <a:rPr lang="fr-FR" dirty="0"/>
              <a:t>de puissance statistique pour valider les interactions (effet du Statut Social</a:t>
            </a:r>
            <a:r>
              <a:rPr lang="fr-FR" dirty="0" smtClean="0"/>
              <a:t>). </a:t>
            </a:r>
            <a:endParaRPr lang="fr-FR" dirty="0"/>
          </a:p>
        </p:txBody>
      </p:sp>
      <p:sp>
        <p:nvSpPr>
          <p:cNvPr id="6" name="Rectangle 5"/>
          <p:cNvSpPr/>
          <p:nvPr/>
        </p:nvSpPr>
        <p:spPr>
          <a:xfrm>
            <a:off x="1601921" y="1890089"/>
            <a:ext cx="283814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Limites Statistiques :</a:t>
            </a:r>
          </a:p>
        </p:txBody>
      </p:sp>
      <p:sp>
        <p:nvSpPr>
          <p:cNvPr id="7" name="Rectangle 6"/>
          <p:cNvSpPr/>
          <p:nvPr/>
        </p:nvSpPr>
        <p:spPr>
          <a:xfrm>
            <a:off x="7421136" y="1923098"/>
            <a:ext cx="27471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Biais de Population :</a:t>
            </a:r>
          </a:p>
        </p:txBody>
      </p:sp>
      <p:sp>
        <p:nvSpPr>
          <p:cNvPr id="8" name="Rectangle 7"/>
          <p:cNvSpPr/>
          <p:nvPr/>
        </p:nvSpPr>
        <p:spPr>
          <a:xfrm>
            <a:off x="7325915" y="2433846"/>
            <a:ext cx="37722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Population cible homogène (Étudiants, 18-25 ans</a:t>
            </a:r>
            <a:r>
              <a:rPr lang="fr-FR" dirty="0" smtClean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smtClean="0"/>
              <a:t>Biais </a:t>
            </a:r>
            <a:r>
              <a:rPr lang="fr-FR" dirty="0"/>
              <a:t>d'habituation au numérique</a:t>
            </a:r>
            <a:r>
              <a:rPr lang="fr-FR" dirty="0" smtClean="0"/>
              <a:t>. </a:t>
            </a:r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1109100" y="4628170"/>
            <a:ext cx="425475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Hétérogénéité </a:t>
            </a:r>
            <a:r>
              <a:rPr lang="fr-FR" dirty="0"/>
              <a:t>du matériel de passation (Souris classique vs </a:t>
            </a:r>
            <a:r>
              <a:rPr lang="fr-FR" dirty="0" err="1"/>
              <a:t>Trackpad</a:t>
            </a:r>
            <a:r>
              <a:rPr lang="fr-FR" dirty="0"/>
              <a:t>, tailles d'écrans</a:t>
            </a:r>
            <a:r>
              <a:rPr lang="fr-FR" dirty="0" smtClean="0"/>
              <a:t>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9325" y="4076553"/>
            <a:ext cx="52138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Variabilité Technique (Mouse </a:t>
            </a:r>
            <a:r>
              <a:rPr lang="fr-FR" sz="2400" dirty="0" err="1">
                <a:solidFill>
                  <a:schemeClr val="tx2">
                    <a:lumMod val="50000"/>
                  </a:schemeClr>
                </a:solidFill>
              </a:rPr>
              <a:t>Tracking</a:t>
            </a:r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) 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81113" y="4590850"/>
            <a:ext cx="31249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Sensibilité </a:t>
            </a:r>
            <a:r>
              <a:rPr lang="fr-FR" dirty="0"/>
              <a:t>de </a:t>
            </a:r>
            <a:r>
              <a:rPr lang="fr-FR" dirty="0" smtClean="0"/>
              <a:t>la suspicion : </a:t>
            </a:r>
            <a:r>
              <a:rPr lang="fr-FR" dirty="0"/>
              <a:t>risque de suspicion des participants face aux agents virtuels (Bots).</a:t>
            </a:r>
            <a:endParaRPr lang="fr-FR" dirty="0"/>
          </a:p>
        </p:txBody>
      </p:sp>
      <p:sp>
        <p:nvSpPr>
          <p:cNvPr id="12" name="Rectangle 11"/>
          <p:cNvSpPr/>
          <p:nvPr/>
        </p:nvSpPr>
        <p:spPr>
          <a:xfrm>
            <a:off x="7421136" y="4058814"/>
            <a:ext cx="24849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Validité </a:t>
            </a:r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Instinctif </a:t>
            </a:r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5053895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156B6"/>
            </a:gs>
            <a:gs pos="50000">
              <a:srgbClr val="002060"/>
            </a:gs>
            <a:gs pos="100000">
              <a:srgbClr val="000066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 20">
            <a:extLst>
              <a:ext uri="{FF2B5EF4-FFF2-40B4-BE49-F238E27FC236}">
                <a16:creationId xmlns:a16="http://schemas.microsoft.com/office/drawing/2014/main" id="{99CAC3B1-4879-424D-8F15-2062771961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4B8492CB-DFBA-4A82-9778-F21493DA36C1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526211" y="0"/>
            <a:ext cx="5014912" cy="6862763"/>
            <a:chOff x="2928938" y="-4763"/>
            <a:chExt cx="5014912" cy="6862763"/>
          </a:xfrm>
        </p:grpSpPr>
        <p:sp>
          <p:nvSpPr>
            <p:cNvPr id="24" name="Forme libre 6">
              <a:extLst>
                <a:ext uri="{FF2B5EF4-FFF2-40B4-BE49-F238E27FC236}">
                  <a16:creationId xmlns:a16="http://schemas.microsoft.com/office/drawing/2014/main" id="{E34CC1C8-EBDD-4AEA-83E6-B27575B62E2E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5" name="Forme libre 7">
              <a:extLst>
                <a:ext uri="{FF2B5EF4-FFF2-40B4-BE49-F238E27FC236}">
                  <a16:creationId xmlns:a16="http://schemas.microsoft.com/office/drawing/2014/main" id="{D6B38644-B85D-4211-9526-5B4C2A662BF7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</p:sp>
        <p:sp>
          <p:nvSpPr>
            <p:cNvPr id="26" name="Forme libre 12">
              <a:extLst>
                <a:ext uri="{FF2B5EF4-FFF2-40B4-BE49-F238E27FC236}">
                  <a16:creationId xmlns:a16="http://schemas.microsoft.com/office/drawing/2014/main" id="{8A8B2820-6B8F-4C19-BFC5-D28EE44E54CB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27" name="Forme libre 13">
              <a:extLst>
                <a:ext uri="{FF2B5EF4-FFF2-40B4-BE49-F238E27FC236}">
                  <a16:creationId xmlns:a16="http://schemas.microsoft.com/office/drawing/2014/main" id="{773528ED-4D37-4A77-A8CA-86B6221C5E82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8" name="Forme libre 14">
              <a:extLst>
                <a:ext uri="{FF2B5EF4-FFF2-40B4-BE49-F238E27FC236}">
                  <a16:creationId xmlns:a16="http://schemas.microsoft.com/office/drawing/2014/main" id="{8A58A902-E944-4399-9A93-A91A6A82B166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9" name="Forme libre 15">
              <a:extLst>
                <a:ext uri="{FF2B5EF4-FFF2-40B4-BE49-F238E27FC236}">
                  <a16:creationId xmlns:a16="http://schemas.microsoft.com/office/drawing/2014/main" id="{4EDB1155-2E8E-4FB8-AD42-101FE4383231}"/>
                </a:ext>
                <a:ext uri="{C183D7F6-B498-43B3-948B-1728B52AA6E4}">
                  <adec:decorative xmlns:adec="http://schemas.microsoft.com/office/drawing/2017/decorative" xmlns="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C7492CCE-C435-464E-A19A-D4C606FDB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23" y="-6989"/>
            <a:ext cx="8843748" cy="1752599"/>
          </a:xfrm>
        </p:spPr>
        <p:txBody>
          <a:bodyPr rtlCol="0">
            <a:normAutofit/>
          </a:bodyPr>
          <a:lstStyle/>
          <a:p>
            <a:pPr algn="l"/>
            <a:r>
              <a:rPr lang="fr-FR" dirty="0" smtClean="0"/>
              <a:t>Conclusion et Perspectives</a:t>
            </a:r>
            <a:endParaRPr lang="fr-FR" dirty="0">
              <a:latin typeface="Eras Bold ITC" panose="020B0907030504020204" pitchFamily="34" charset="0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1098211" y="-17518"/>
            <a:ext cx="1093788" cy="734767"/>
          </a:xfrm>
          <a:prstGeom prst="rect">
            <a:avLst/>
          </a:prstGeom>
          <a:solidFill>
            <a:schemeClr val="accent1">
              <a:alpha val="40000"/>
            </a:schemeClr>
          </a:solidFill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endParaRPr lang="fr-FR" dirty="0"/>
          </a:p>
        </p:txBody>
      </p:sp>
      <p:pic>
        <p:nvPicPr>
          <p:cNvPr id="32" name="Picture 2" descr="Fichier:Logo Université Grenoble Alpes 2020.svg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98211" y="86479"/>
            <a:ext cx="985042" cy="604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11600891" y="6492875"/>
            <a:ext cx="551167" cy="365125"/>
          </a:xfrm>
        </p:spPr>
        <p:txBody>
          <a:bodyPr/>
          <a:lstStyle/>
          <a:p>
            <a:pPr rtl="0"/>
            <a:fld id="{D57F1E4F-1CFF-5643-939E-217C01CDF565}" type="slidenum">
              <a:rPr lang="fr-FR" sz="1800" noProof="0" smtClean="0"/>
              <a:pPr rtl="0"/>
              <a:t>13</a:t>
            </a:fld>
            <a:endParaRPr lang="fr-FR" sz="1800" noProof="0" dirty="0"/>
          </a:p>
        </p:txBody>
      </p:sp>
      <p:sp>
        <p:nvSpPr>
          <p:cNvPr id="6" name="Rectangle 5"/>
          <p:cNvSpPr/>
          <p:nvPr/>
        </p:nvSpPr>
        <p:spPr>
          <a:xfrm>
            <a:off x="1291472" y="2083025"/>
            <a:ext cx="991699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Le </a:t>
            </a:r>
            <a:r>
              <a:rPr lang="fr-FR" dirty="0"/>
              <a:t>conformisme numérique est puissant : L'influence sociale opère massivement à travers l'écran (copie directe des choix</a:t>
            </a:r>
            <a:r>
              <a:rPr lang="fr-FR" dirty="0" smtClean="0"/>
              <a:t>).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Le </a:t>
            </a:r>
            <a:r>
              <a:rPr lang="fr-FR" dirty="0"/>
              <a:t>poids de l'autorité : L'étiquette "Expert" impacte la décision et altère la métacognition (confiance en soi</a:t>
            </a:r>
            <a:r>
              <a:rPr lang="fr-FR" dirty="0" smtClean="0"/>
              <a:t>).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La </a:t>
            </a:r>
            <a:r>
              <a:rPr lang="fr-FR" dirty="0"/>
              <a:t>signature motrice du doute : Face à l'autorité, la résistance provoque un "gel cognitif" (allongement significatif du temps de réaction) plutôt qu'une </a:t>
            </a:r>
            <a:r>
              <a:rPr lang="fr-FR" dirty="0" smtClean="0"/>
              <a:t>déviation spatiale. 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4877734" y="1303018"/>
            <a:ext cx="227979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Bilan de l'étude :</a:t>
            </a:r>
          </a:p>
        </p:txBody>
      </p:sp>
      <p:sp>
        <p:nvSpPr>
          <p:cNvPr id="9" name="Rectangle 8"/>
          <p:cNvSpPr/>
          <p:nvPr/>
        </p:nvSpPr>
        <p:spPr>
          <a:xfrm>
            <a:off x="1357460" y="4865913"/>
            <a:ext cx="98510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Méthodologie </a:t>
            </a:r>
            <a:r>
              <a:rPr lang="fr-FR" dirty="0"/>
              <a:t>: Agrandir l'échantillon </a:t>
            </a:r>
            <a:r>
              <a:rPr lang="fr-FR" dirty="0" smtClean="0"/>
              <a:t>(N </a:t>
            </a:r>
            <a:r>
              <a:rPr lang="fr-FR" dirty="0"/>
              <a:t>&gt; </a:t>
            </a:r>
            <a:r>
              <a:rPr lang="fr-FR" dirty="0" smtClean="0"/>
              <a:t>50) </a:t>
            </a:r>
            <a:r>
              <a:rPr lang="fr-FR" dirty="0"/>
              <a:t>pour consolider la puissance statistique des </a:t>
            </a:r>
            <a:r>
              <a:rPr lang="fr-FR" dirty="0" smtClean="0"/>
              <a:t>interactions</a:t>
            </a:r>
            <a:r>
              <a:rPr lang="fr-FR" dirty="0"/>
              <a:t>.</a:t>
            </a:r>
            <a:endParaRPr lang="fr-FR" dirty="0" smtClean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Technologie </a:t>
            </a:r>
            <a:r>
              <a:rPr lang="fr-FR" dirty="0"/>
              <a:t>: Comparer le mouse-</a:t>
            </a:r>
            <a:r>
              <a:rPr lang="fr-FR" dirty="0" err="1"/>
              <a:t>tracking</a:t>
            </a:r>
            <a:r>
              <a:rPr lang="fr-FR" dirty="0"/>
              <a:t> avec des interactions tactiles (écrans de smartphones</a:t>
            </a:r>
            <a:r>
              <a:rPr lang="fr-FR" dirty="0" smtClean="0"/>
              <a:t>).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 smtClean="0"/>
              <a:t>Application </a:t>
            </a:r>
            <a:r>
              <a:rPr lang="fr-FR" dirty="0"/>
              <a:t>éthique : Sensibiliser au design d'interfaces (IHM) et alerter sur les risques de manipulation par l'autorité virtuelle (</a:t>
            </a:r>
            <a:r>
              <a:rPr lang="fr-FR" dirty="0" err="1"/>
              <a:t>Dark</a:t>
            </a:r>
            <a:r>
              <a:rPr lang="fr-FR" dirty="0"/>
              <a:t> Patterns, </a:t>
            </a:r>
            <a:r>
              <a:rPr lang="fr-FR" dirty="0" err="1"/>
              <a:t>Fake</a:t>
            </a:r>
            <a:r>
              <a:rPr lang="fr-FR" dirty="0"/>
              <a:t> News).</a:t>
            </a:r>
            <a:endParaRPr lang="fr-FR" dirty="0"/>
          </a:p>
        </p:txBody>
      </p:sp>
      <p:sp>
        <p:nvSpPr>
          <p:cNvPr id="10" name="Rectangle 9"/>
          <p:cNvSpPr/>
          <p:nvPr/>
        </p:nvSpPr>
        <p:spPr>
          <a:xfrm>
            <a:off x="4542257" y="4194310"/>
            <a:ext cx="295074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>
                <a:solidFill>
                  <a:schemeClr val="tx2">
                    <a:lumMod val="50000"/>
                  </a:schemeClr>
                </a:solidFill>
              </a:rPr>
              <a:t>Perspectives futures : </a:t>
            </a:r>
          </a:p>
        </p:txBody>
      </p:sp>
    </p:spTree>
    <p:extLst>
      <p:ext uri="{BB962C8B-B14F-4D97-AF65-F5344CB8AC3E}">
        <p14:creationId xmlns:p14="http://schemas.microsoft.com/office/powerpoint/2010/main" val="3629696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e">
  <a:themeElements>
    <a:clrScheme name="Sillage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015_TF22644756.potx" id="{007C5E96-82F4-498B-BDA2-7F2F91590ACD}" vid="{B119A88B-9E34-4DF3-9DFF-80B39E805AE3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7023227-530E-4024-91EF-312A851A758C}">
  <ds:schemaRefs>
    <ds:schemaRef ds:uri="http://schemas.microsoft.com/office/infopath/2007/PartnerControls"/>
    <ds:schemaRef ds:uri="71af3243-3dd4-4a8d-8c0d-dd76da1f02a5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627C19A7-3107-4CB2-BD0D-F7C79BE028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3315AA3-EAE3-44ED-8368-BAC2FFFB481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Conception Parallaxe</Template>
  <TotalTime>0</TotalTime>
  <Words>751</Words>
  <Application>Microsoft Office PowerPoint</Application>
  <PresentationFormat>Grand écran</PresentationFormat>
  <Paragraphs>108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Corbel</vt:lpstr>
      <vt:lpstr>Eras Bold ITC</vt:lpstr>
      <vt:lpstr>Wingdings</vt:lpstr>
      <vt:lpstr>Parallaxe</vt:lpstr>
      <vt:lpstr>L'AUTORITÉ DU CURSEUR</vt:lpstr>
      <vt:lpstr>Sommaire</vt:lpstr>
      <vt:lpstr>CONTEXTE SCIENTIFIQUE ET OBJECTIFS </vt:lpstr>
      <vt:lpstr>VARIABLES</vt:lpstr>
      <vt:lpstr>HYPOTHÈSES</vt:lpstr>
      <vt:lpstr>OUTILS ET TECHNOLOGIES</vt:lpstr>
      <vt:lpstr>Protocole &amp; RGPD</vt:lpstr>
      <vt:lpstr>Demo</vt:lpstr>
      <vt:lpstr>RÉSULTATS – Le conformisme (H1 &amp; H2)</vt:lpstr>
      <vt:lpstr>RÉSULTATS - Métacognition &amp; Conflit Moteur (H3 &amp; H4)</vt:lpstr>
      <vt:lpstr>RÉSULTATS - Métacognition &amp; Conflit Moteur (H3 &amp; H4)</vt:lpstr>
      <vt:lpstr>Limites &amp; Biais</vt:lpstr>
      <vt:lpstr>Conclusion et Perspectives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2026-02-07T12:19:11Z</dcterms:created>
  <dcterms:modified xsi:type="dcterms:W3CDTF">2026-03-27T07:36:49Z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